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Open Sans SemiBold"/>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hWocFA3KuhichRiuoTKLJXzZoj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OpenSansSemiBold-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OpenSansSemiBold-italic.fntdata"/><Relationship Id="rId12" Type="http://schemas.openxmlformats.org/officeDocument/2006/relationships/slide" Target="slides/slide6.xml"/><Relationship Id="rId34" Type="http://schemas.openxmlformats.org/officeDocument/2006/relationships/font" Target="fonts/OpenSansSemiBold-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OpenSansSemiBold-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ype="blank">
  <p:cSld name="BLANK">
    <p:spTree>
      <p:nvGrpSpPr>
        <p:cNvPr id="13" name="Shape 13"/>
        <p:cNvGrpSpPr/>
        <p:nvPr/>
      </p:nvGrpSpPr>
      <p:grpSpPr>
        <a:xfrm>
          <a:off x="0" y="0"/>
          <a:ext cx="0" cy="0"/>
          <a:chOff x="0" y="0"/>
          <a:chExt cx="0" cy="0"/>
        </a:xfrm>
      </p:grpSpPr>
      <p:sp>
        <p:nvSpPr>
          <p:cNvPr id="14" name="Google Shape;1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31"/>
          <p:cNvSpPr/>
          <p:nvPr/>
        </p:nvSpPr>
        <p:spPr>
          <a:xfrm>
            <a:off x="0" y="329125"/>
            <a:ext cx="69300" cy="7530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BLANK_1">
    <p:spTree>
      <p:nvGrpSpPr>
        <p:cNvPr id="16" name="Shape 16"/>
        <p:cNvGrpSpPr/>
        <p:nvPr/>
      </p:nvGrpSpPr>
      <p:grpSpPr>
        <a:xfrm>
          <a:off x="0" y="0"/>
          <a:ext cx="0" cy="0"/>
          <a:chOff x="0" y="0"/>
          <a:chExt cx="0" cy="0"/>
        </a:xfrm>
      </p:grpSpPr>
      <p:sp>
        <p:nvSpPr>
          <p:cNvPr id="17" name="Google Shape;1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2"/>
          <p:cNvSpPr/>
          <p:nvPr/>
        </p:nvSpPr>
        <p:spPr>
          <a:xfrm>
            <a:off x="0" y="329125"/>
            <a:ext cx="69300" cy="7530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p:cSld name="BLANK_1_1">
    <p:spTree>
      <p:nvGrpSpPr>
        <p:cNvPr id="19" name="Shape 19"/>
        <p:cNvGrpSpPr/>
        <p:nvPr/>
      </p:nvGrpSpPr>
      <p:grpSpPr>
        <a:xfrm>
          <a:off x="0" y="0"/>
          <a:ext cx="0" cy="0"/>
          <a:chOff x="0" y="0"/>
          <a:chExt cx="0" cy="0"/>
        </a:xfrm>
      </p:grpSpPr>
      <p:sp>
        <p:nvSpPr>
          <p:cNvPr id="20" name="Google Shape;2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 name="Google Shape;21;p33"/>
          <p:cNvSpPr/>
          <p:nvPr/>
        </p:nvSpPr>
        <p:spPr>
          <a:xfrm>
            <a:off x="0" y="329125"/>
            <a:ext cx="69300" cy="7530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BLANK_1_1_1">
    <p:spTree>
      <p:nvGrpSpPr>
        <p:cNvPr id="22" name="Shape 22"/>
        <p:cNvGrpSpPr/>
        <p:nvPr/>
      </p:nvGrpSpPr>
      <p:grpSpPr>
        <a:xfrm>
          <a:off x="0" y="0"/>
          <a:ext cx="0" cy="0"/>
          <a:chOff x="0" y="0"/>
          <a:chExt cx="0" cy="0"/>
        </a:xfrm>
      </p:grpSpPr>
      <p:sp>
        <p:nvSpPr>
          <p:cNvPr id="23" name="Google Shape;2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34"/>
          <p:cNvSpPr/>
          <p:nvPr/>
        </p:nvSpPr>
        <p:spPr>
          <a:xfrm>
            <a:off x="0" y="329125"/>
            <a:ext cx="69300" cy="7530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BLANK_1_1_1_1">
    <p:spTree>
      <p:nvGrpSpPr>
        <p:cNvPr id="25" name="Shape 25"/>
        <p:cNvGrpSpPr/>
        <p:nvPr/>
      </p:nvGrpSpPr>
      <p:grpSpPr>
        <a:xfrm>
          <a:off x="0" y="0"/>
          <a:ext cx="0" cy="0"/>
          <a:chOff x="0" y="0"/>
          <a:chExt cx="0" cy="0"/>
        </a:xfrm>
      </p:grpSpPr>
      <p:sp>
        <p:nvSpPr>
          <p:cNvPr id="26" name="Google Shape;2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35"/>
          <p:cNvSpPr/>
          <p:nvPr/>
        </p:nvSpPr>
        <p:spPr>
          <a:xfrm>
            <a:off x="0" y="329125"/>
            <a:ext cx="69300" cy="753000"/>
          </a:xfrm>
          <a:prstGeom prst="rect">
            <a:avLst/>
          </a:prstGeom>
          <a:solidFill>
            <a:srgbClr val="9AA0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0" name="Google Shape;3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4" name="Google Shape;3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3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3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4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5" name="Google Shape;45;p4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
        <p:nvSpPr>
          <p:cNvPr id="48" name="Google Shape;48;p4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9" name="Google Shape;4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4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3" name="Google Shape;53;p4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4" name="Google Shape;54;p4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5" name="Google Shape;5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4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8" name="Google Shape;5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 name="Shape 59"/>
        <p:cNvGrpSpPr/>
        <p:nvPr/>
      </p:nvGrpSpPr>
      <p:grpSpPr>
        <a:xfrm>
          <a:off x="0" y="0"/>
          <a:ext cx="0" cy="0"/>
          <a:chOff x="0" y="0"/>
          <a:chExt cx="0" cy="0"/>
        </a:xfrm>
      </p:grpSpPr>
      <p:sp>
        <p:nvSpPr>
          <p:cNvPr id="60" name="Google Shape;60;p4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1" name="Google Shape;61;p4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2" name="Google Shape;6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2">
  <p:cSld name="BLANK_1_2">
    <p:spTree>
      <p:nvGrpSpPr>
        <p:cNvPr id="63" name="Shape 63"/>
        <p:cNvGrpSpPr/>
        <p:nvPr/>
      </p:nvGrpSpPr>
      <p:grpSpPr>
        <a:xfrm>
          <a:off x="0" y="0"/>
          <a:ext cx="0" cy="0"/>
          <a:chOff x="0" y="0"/>
          <a:chExt cx="0" cy="0"/>
        </a:xfrm>
      </p:grpSpPr>
      <p:sp>
        <p:nvSpPr>
          <p:cNvPr id="64" name="Google Shape;64;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45"/>
          <p:cNvSpPr/>
          <p:nvPr/>
        </p:nvSpPr>
        <p:spPr>
          <a:xfrm>
            <a:off x="0" y="329125"/>
            <a:ext cx="69300" cy="44853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2">
  <p:cSld name="BLANK_1_2_1">
    <p:spTree>
      <p:nvGrpSpPr>
        <p:cNvPr id="66" name="Shape 66"/>
        <p:cNvGrpSpPr/>
        <p:nvPr/>
      </p:nvGrpSpPr>
      <p:grpSpPr>
        <a:xfrm>
          <a:off x="0" y="0"/>
          <a:ext cx="0" cy="0"/>
          <a:chOff x="0" y="0"/>
          <a:chExt cx="0" cy="0"/>
        </a:xfrm>
      </p:grpSpPr>
      <p:sp>
        <p:nvSpPr>
          <p:cNvPr id="67" name="Google Shape;6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46"/>
          <p:cNvSpPr/>
          <p:nvPr/>
        </p:nvSpPr>
        <p:spPr>
          <a:xfrm>
            <a:off x="0" y="329125"/>
            <a:ext cx="69300" cy="44853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p:cSld name="BLANK_1_2_1_1">
    <p:spTree>
      <p:nvGrpSpPr>
        <p:cNvPr id="69" name="Shape 69"/>
        <p:cNvGrpSpPr/>
        <p:nvPr/>
      </p:nvGrpSpPr>
      <p:grpSpPr>
        <a:xfrm>
          <a:off x="0" y="0"/>
          <a:ext cx="0" cy="0"/>
          <a:chOff x="0" y="0"/>
          <a:chExt cx="0" cy="0"/>
        </a:xfrm>
      </p:grpSpPr>
      <p:sp>
        <p:nvSpPr>
          <p:cNvPr id="70" name="Google Shape;7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47"/>
          <p:cNvSpPr/>
          <p:nvPr/>
        </p:nvSpPr>
        <p:spPr>
          <a:xfrm>
            <a:off x="0" y="329125"/>
            <a:ext cx="69300" cy="44853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ype="blank">
  <p:cSld name="BLANK">
    <p:spTree>
      <p:nvGrpSpPr>
        <p:cNvPr id="76" name="Shape 76"/>
        <p:cNvGrpSpPr/>
        <p:nvPr/>
      </p:nvGrpSpPr>
      <p:grpSpPr>
        <a:xfrm>
          <a:off x="0" y="0"/>
          <a:ext cx="0" cy="0"/>
          <a:chOff x="0" y="0"/>
          <a:chExt cx="0" cy="0"/>
        </a:xfrm>
      </p:grpSpPr>
      <p:sp>
        <p:nvSpPr>
          <p:cNvPr id="77" name="Google Shape;77;p30"/>
          <p:cNvSpPr/>
          <p:nvPr/>
        </p:nvSpPr>
        <p:spPr>
          <a:xfrm>
            <a:off x="0" y="329125"/>
            <a:ext cx="69300" cy="7530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30"/>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9" name="Shape 79"/>
        <p:cNvGrpSpPr/>
        <p:nvPr/>
      </p:nvGrpSpPr>
      <p:grpSpPr>
        <a:xfrm>
          <a:off x="0" y="0"/>
          <a:ext cx="0" cy="0"/>
          <a:chOff x="0" y="0"/>
          <a:chExt cx="0" cy="0"/>
        </a:xfrm>
      </p:grpSpPr>
      <p:sp>
        <p:nvSpPr>
          <p:cNvPr id="80" name="Google Shape;80;p4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1" name="Google Shape;81;p4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p4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4" name="Google Shape;84;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sp>
        <p:nvSpPr>
          <p:cNvPr id="86" name="Google Shape;8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8" name="Google Shape;8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 name="Shape 89"/>
        <p:cNvGrpSpPr/>
        <p:nvPr/>
      </p:nvGrpSpPr>
      <p:grpSpPr>
        <a:xfrm>
          <a:off x="0" y="0"/>
          <a:ext cx="0" cy="0"/>
          <a:chOff x="0" y="0"/>
          <a:chExt cx="0" cy="0"/>
        </a:xfrm>
      </p:grpSpPr>
      <p:sp>
        <p:nvSpPr>
          <p:cNvPr id="90" name="Google Shape;90;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1" name="Google Shape;91;p5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2" name="Google Shape;92;p5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3" name="Google Shape;93;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 name="Shape 97"/>
        <p:cNvGrpSpPr/>
        <p:nvPr/>
      </p:nvGrpSpPr>
      <p:grpSpPr>
        <a:xfrm>
          <a:off x="0" y="0"/>
          <a:ext cx="0" cy="0"/>
          <a:chOff x="0" y="0"/>
          <a:chExt cx="0" cy="0"/>
        </a:xfrm>
      </p:grpSpPr>
      <p:sp>
        <p:nvSpPr>
          <p:cNvPr id="98" name="Google Shape;98;p5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9" name="Google Shape;99;p5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0" name="Google Shape;100;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1" name="Shape 101"/>
        <p:cNvGrpSpPr/>
        <p:nvPr/>
      </p:nvGrpSpPr>
      <p:grpSpPr>
        <a:xfrm>
          <a:off x="0" y="0"/>
          <a:ext cx="0" cy="0"/>
          <a:chOff x="0" y="0"/>
          <a:chExt cx="0" cy="0"/>
        </a:xfrm>
      </p:grpSpPr>
      <p:sp>
        <p:nvSpPr>
          <p:cNvPr id="102" name="Google Shape;102;p5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3" name="Google Shape;103;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4" name="Shape 104"/>
        <p:cNvGrpSpPr/>
        <p:nvPr/>
      </p:nvGrpSpPr>
      <p:grpSpPr>
        <a:xfrm>
          <a:off x="0" y="0"/>
          <a:ext cx="0" cy="0"/>
          <a:chOff x="0" y="0"/>
          <a:chExt cx="0" cy="0"/>
        </a:xfrm>
      </p:grpSpPr>
      <p:sp>
        <p:nvSpPr>
          <p:cNvPr id="105" name="Google Shape;105;p5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7" name="Google Shape;107;p5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8" name="Google Shape;108;p5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9" name="Google Shape;109;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0" name="Shape 110"/>
        <p:cNvGrpSpPr/>
        <p:nvPr/>
      </p:nvGrpSpPr>
      <p:grpSpPr>
        <a:xfrm>
          <a:off x="0" y="0"/>
          <a:ext cx="0" cy="0"/>
          <a:chOff x="0" y="0"/>
          <a:chExt cx="0" cy="0"/>
        </a:xfrm>
      </p:grpSpPr>
      <p:sp>
        <p:nvSpPr>
          <p:cNvPr id="111" name="Google Shape;111;p5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12" name="Google Shape;112;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3" name="Shape 113"/>
        <p:cNvGrpSpPr/>
        <p:nvPr/>
      </p:nvGrpSpPr>
      <p:grpSpPr>
        <a:xfrm>
          <a:off x="0" y="0"/>
          <a:ext cx="0" cy="0"/>
          <a:chOff x="0" y="0"/>
          <a:chExt cx="0" cy="0"/>
        </a:xfrm>
      </p:grpSpPr>
      <p:sp>
        <p:nvSpPr>
          <p:cNvPr id="114" name="Google Shape;114;p5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5" name="Google Shape;115;p5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16" name="Google Shape;116;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BLANK_1">
    <p:spTree>
      <p:nvGrpSpPr>
        <p:cNvPr id="117" name="Shape 117"/>
        <p:cNvGrpSpPr/>
        <p:nvPr/>
      </p:nvGrpSpPr>
      <p:grpSpPr>
        <a:xfrm>
          <a:off x="0" y="0"/>
          <a:ext cx="0" cy="0"/>
          <a:chOff x="0" y="0"/>
          <a:chExt cx="0" cy="0"/>
        </a:xfrm>
      </p:grpSpPr>
      <p:sp>
        <p:nvSpPr>
          <p:cNvPr id="118" name="Google Shape;118;p58"/>
          <p:cNvSpPr/>
          <p:nvPr/>
        </p:nvSpPr>
        <p:spPr>
          <a:xfrm>
            <a:off x="0" y="329125"/>
            <a:ext cx="69300" cy="7530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 name="Google Shape;119;p58"/>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2">
  <p:cSld name="BLANK_1_2">
    <p:spTree>
      <p:nvGrpSpPr>
        <p:cNvPr id="120" name="Shape 120"/>
        <p:cNvGrpSpPr/>
        <p:nvPr/>
      </p:nvGrpSpPr>
      <p:grpSpPr>
        <a:xfrm>
          <a:off x="0" y="0"/>
          <a:ext cx="0" cy="0"/>
          <a:chOff x="0" y="0"/>
          <a:chExt cx="0" cy="0"/>
        </a:xfrm>
      </p:grpSpPr>
      <p:sp>
        <p:nvSpPr>
          <p:cNvPr id="121" name="Google Shape;121;p59"/>
          <p:cNvSpPr/>
          <p:nvPr/>
        </p:nvSpPr>
        <p:spPr>
          <a:xfrm>
            <a:off x="0" y="329125"/>
            <a:ext cx="69300" cy="44853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59"/>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2">
  <p:cSld name="BLANK_1_2_1">
    <p:spTree>
      <p:nvGrpSpPr>
        <p:cNvPr id="123" name="Shape 123"/>
        <p:cNvGrpSpPr/>
        <p:nvPr/>
      </p:nvGrpSpPr>
      <p:grpSpPr>
        <a:xfrm>
          <a:off x="0" y="0"/>
          <a:ext cx="0" cy="0"/>
          <a:chOff x="0" y="0"/>
          <a:chExt cx="0" cy="0"/>
        </a:xfrm>
      </p:grpSpPr>
      <p:sp>
        <p:nvSpPr>
          <p:cNvPr id="124" name="Google Shape;124;p60"/>
          <p:cNvSpPr/>
          <p:nvPr/>
        </p:nvSpPr>
        <p:spPr>
          <a:xfrm>
            <a:off x="0" y="329125"/>
            <a:ext cx="69300" cy="44853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5" name="Google Shape;125;p60"/>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p:cSld name="BLANK_1_2_1_1">
    <p:spTree>
      <p:nvGrpSpPr>
        <p:cNvPr id="126" name="Shape 126"/>
        <p:cNvGrpSpPr/>
        <p:nvPr/>
      </p:nvGrpSpPr>
      <p:grpSpPr>
        <a:xfrm>
          <a:off x="0" y="0"/>
          <a:ext cx="0" cy="0"/>
          <a:chOff x="0" y="0"/>
          <a:chExt cx="0" cy="0"/>
        </a:xfrm>
      </p:grpSpPr>
      <p:sp>
        <p:nvSpPr>
          <p:cNvPr id="127" name="Google Shape;127;p61"/>
          <p:cNvSpPr/>
          <p:nvPr/>
        </p:nvSpPr>
        <p:spPr>
          <a:xfrm>
            <a:off x="0" y="329125"/>
            <a:ext cx="69300" cy="44853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61"/>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p:cSld name="BLANK_1_1">
    <p:spTree>
      <p:nvGrpSpPr>
        <p:cNvPr id="129" name="Shape 129"/>
        <p:cNvGrpSpPr/>
        <p:nvPr/>
      </p:nvGrpSpPr>
      <p:grpSpPr>
        <a:xfrm>
          <a:off x="0" y="0"/>
          <a:ext cx="0" cy="0"/>
          <a:chOff x="0" y="0"/>
          <a:chExt cx="0" cy="0"/>
        </a:xfrm>
      </p:grpSpPr>
      <p:sp>
        <p:nvSpPr>
          <p:cNvPr id="130" name="Google Shape;130;p62"/>
          <p:cNvSpPr/>
          <p:nvPr/>
        </p:nvSpPr>
        <p:spPr>
          <a:xfrm>
            <a:off x="0" y="329125"/>
            <a:ext cx="69300" cy="753000"/>
          </a:xfrm>
          <a:prstGeom prst="rect">
            <a:avLst/>
          </a:prstGeom>
          <a:solidFill>
            <a:srgbClr val="F2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1" name="Google Shape;131;p62"/>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BLANK_1_1_1">
    <p:spTree>
      <p:nvGrpSpPr>
        <p:cNvPr id="132" name="Shape 132"/>
        <p:cNvGrpSpPr/>
        <p:nvPr/>
      </p:nvGrpSpPr>
      <p:grpSpPr>
        <a:xfrm>
          <a:off x="0" y="0"/>
          <a:ext cx="0" cy="0"/>
          <a:chOff x="0" y="0"/>
          <a:chExt cx="0" cy="0"/>
        </a:xfrm>
      </p:grpSpPr>
      <p:sp>
        <p:nvSpPr>
          <p:cNvPr id="133" name="Google Shape;133;p63"/>
          <p:cNvSpPr/>
          <p:nvPr/>
        </p:nvSpPr>
        <p:spPr>
          <a:xfrm>
            <a:off x="0" y="329125"/>
            <a:ext cx="69300" cy="7530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63"/>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BLANK_1_1_1_1">
    <p:spTree>
      <p:nvGrpSpPr>
        <p:cNvPr id="135" name="Shape 135"/>
        <p:cNvGrpSpPr/>
        <p:nvPr/>
      </p:nvGrpSpPr>
      <p:grpSpPr>
        <a:xfrm>
          <a:off x="0" y="0"/>
          <a:ext cx="0" cy="0"/>
          <a:chOff x="0" y="0"/>
          <a:chExt cx="0" cy="0"/>
        </a:xfrm>
      </p:grpSpPr>
      <p:sp>
        <p:nvSpPr>
          <p:cNvPr id="136" name="Google Shape;136;p64"/>
          <p:cNvSpPr/>
          <p:nvPr/>
        </p:nvSpPr>
        <p:spPr>
          <a:xfrm>
            <a:off x="0" y="329125"/>
            <a:ext cx="69300" cy="753000"/>
          </a:xfrm>
          <a:prstGeom prst="rect">
            <a:avLst/>
          </a:prstGeom>
          <a:solidFill>
            <a:srgbClr val="9AA0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7" name="Google Shape;137;p64"/>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8" name="Shape 138"/>
        <p:cNvGrpSpPr/>
        <p:nvPr/>
      </p:nvGrpSpPr>
      <p:grpSpPr>
        <a:xfrm>
          <a:off x="0" y="0"/>
          <a:ext cx="0" cy="0"/>
          <a:chOff x="0" y="0"/>
          <a:chExt cx="0" cy="0"/>
        </a:xfrm>
      </p:grpSpPr>
      <p:pic>
        <p:nvPicPr>
          <p:cNvPr id="139" name="Google Shape;139;p65"/>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7.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21" Type="http://schemas.openxmlformats.org/officeDocument/2006/relationships/theme" Target="../theme/theme2.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 Type="http://schemas.openxmlformats.org/officeDocument/2006/relationships/image" Target="../media/image2.png"/><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5" Type="http://schemas.openxmlformats.org/officeDocument/2006/relationships/slideLayout" Target="../slideLayouts/slideLayout22.xml"/><Relationship Id="rId19" Type="http://schemas.openxmlformats.org/officeDocument/2006/relationships/slideLayout" Target="../slideLayouts/slideLayout36.xml"/><Relationship Id="rId6" Type="http://schemas.openxmlformats.org/officeDocument/2006/relationships/slideLayout" Target="../slideLayouts/slideLayout23.xml"/><Relationship Id="rId18" Type="http://schemas.openxmlformats.org/officeDocument/2006/relationships/slideLayout" Target="../slideLayouts/slideLayout35.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2" name="Shape 72"/>
        <p:cNvGrpSpPr/>
        <p:nvPr/>
      </p:nvGrpSpPr>
      <p:grpSpPr>
        <a:xfrm>
          <a:off x="0" y="0"/>
          <a:ext cx="0" cy="0"/>
          <a:chOff x="0" y="0"/>
          <a:chExt cx="0" cy="0"/>
        </a:xfrm>
      </p:grpSpPr>
      <p:sp>
        <p:nvSpPr>
          <p:cNvPr id="73" name="Google Shape;7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4" name="Google Shape;74;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75" name="Google Shape;75;p29"/>
          <p:cNvPicPr preferRelativeResize="0"/>
          <p:nvPr/>
        </p:nvPicPr>
        <p:blipFill rotWithShape="1">
          <a:blip r:embed="rId1">
            <a:alphaModFix/>
          </a:blip>
          <a:srcRect b="0" l="0" r="0" t="0"/>
          <a:stretch/>
        </p:blipFill>
        <p:spPr>
          <a:xfrm>
            <a:off x="8421698" y="4841325"/>
            <a:ext cx="464876" cy="15299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11.png"/><Relationship Id="rId6" Type="http://schemas.openxmlformats.org/officeDocument/2006/relationships/image" Target="../media/image17.png"/><Relationship Id="rId7"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143" name="Shape 143"/>
        <p:cNvGrpSpPr/>
        <p:nvPr/>
      </p:nvGrpSpPr>
      <p:grpSpPr>
        <a:xfrm>
          <a:off x="0" y="0"/>
          <a:ext cx="0" cy="0"/>
          <a:chOff x="0" y="0"/>
          <a:chExt cx="0" cy="0"/>
        </a:xfrm>
      </p:grpSpPr>
      <p:sp>
        <p:nvSpPr>
          <p:cNvPr id="144" name="Google Shape;144;p1"/>
          <p:cNvSpPr txBox="1"/>
          <p:nvPr/>
        </p:nvSpPr>
        <p:spPr>
          <a:xfrm>
            <a:off x="517675" y="1477032"/>
            <a:ext cx="4931100" cy="1292631"/>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Open Sans SemiBold"/>
                <a:ea typeface="Open Sans SemiBold"/>
                <a:cs typeface="Open Sans SemiBold"/>
                <a:sym typeface="Open Sans SemiBold"/>
              </a:rPr>
              <a:t>APP for Local Martial Arts School</a:t>
            </a:r>
            <a:endParaRPr b="0" i="0" sz="3600" u="none" cap="none" strike="noStrike">
              <a:solidFill>
                <a:srgbClr val="FFFFFF"/>
              </a:solidFill>
              <a:latin typeface="Open Sans SemiBold"/>
              <a:ea typeface="Open Sans SemiBold"/>
              <a:cs typeface="Open Sans SemiBold"/>
              <a:sym typeface="Open Sans SemiBold"/>
            </a:endParaRPr>
          </a:p>
        </p:txBody>
      </p:sp>
      <p:sp>
        <p:nvSpPr>
          <p:cNvPr id="145" name="Google Shape;145;p1"/>
          <p:cNvSpPr txBox="1"/>
          <p:nvPr/>
        </p:nvSpPr>
        <p:spPr>
          <a:xfrm>
            <a:off x="517675" y="2769663"/>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 Josue Mendoza</a:t>
            </a:r>
            <a:endParaRPr b="0" i="0" sz="2400" u="none" cap="none" strike="noStrike">
              <a:solidFill>
                <a:srgbClr val="FFFFFF"/>
              </a:solidFill>
              <a:latin typeface="Open Sans"/>
              <a:ea typeface="Open Sans"/>
              <a:cs typeface="Open Sans"/>
              <a:sym typeface="Open Sans"/>
            </a:endParaRPr>
          </a:p>
        </p:txBody>
      </p:sp>
      <p:cxnSp>
        <p:nvCxnSpPr>
          <p:cNvPr id="146" name="Google Shape;146;p1"/>
          <p:cNvCxnSpPr/>
          <p:nvPr/>
        </p:nvCxnSpPr>
        <p:spPr>
          <a:xfrm rot="10800000">
            <a:off x="517650" y="2670825"/>
            <a:ext cx="5808000" cy="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nvSpPr>
        <p:spPr>
          <a:xfrm>
            <a:off x="1231075" y="1604200"/>
            <a:ext cx="4086000" cy="15393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The product: </a:t>
            </a:r>
            <a:endParaRPr b="0" i="0" sz="1400" u="none" cap="none" strike="noStrike">
              <a:solidFill>
                <a:srgbClr val="4285F4"/>
              </a:solidFill>
              <a:latin typeface="Open Sans SemiBold"/>
              <a:ea typeface="Open Sans SemiBold"/>
              <a:cs typeface="Open Sans SemiBold"/>
              <a:sym typeface="Open Sans SemiBold"/>
            </a:endParaRPr>
          </a:p>
          <a:p>
            <a:pPr indent="0" lvl="0" marL="457200" rtl="0" algn="l">
              <a:spcBef>
                <a:spcPts val="0"/>
              </a:spcBef>
              <a:spcAft>
                <a:spcPts val="0"/>
              </a:spcAft>
              <a:buNone/>
            </a:pPr>
            <a:r>
              <a:rPr b="1" lang="en" sz="1100">
                <a:solidFill>
                  <a:srgbClr val="5E6268"/>
                </a:solidFill>
              </a:rPr>
              <a:t>I’m creating a Karate school app to help the school transition towards an online enrollment system. The app will be able to help parents plan accordingly in advance, streamline the registration and payment process. </a:t>
            </a:r>
            <a:endParaRPr b="1" sz="1100">
              <a:solidFill>
                <a:srgbClr val="5E6268"/>
              </a:solidFill>
            </a:endParaRPr>
          </a:p>
          <a:p>
            <a:pPr indent="0" lvl="0" marL="0" marR="0" rtl="0" algn="l">
              <a:lnSpc>
                <a:spcPct val="150000"/>
              </a:lnSpc>
              <a:spcBef>
                <a:spcPts val="0"/>
              </a:spcBef>
              <a:spcAft>
                <a:spcPts val="0"/>
              </a:spcAft>
              <a:buClr>
                <a:schemeClr val="dk1"/>
              </a:buClr>
              <a:buSzPts val="1100"/>
              <a:buFont typeface="Arial"/>
              <a:buNone/>
            </a:pPr>
            <a:r>
              <a:t/>
            </a:r>
            <a:endParaRPr b="1" sz="1200">
              <a:solidFill>
                <a:srgbClr val="5F6368"/>
              </a:solidFill>
              <a:latin typeface="Open Sans"/>
              <a:ea typeface="Open Sans"/>
              <a:cs typeface="Open Sans"/>
              <a:sym typeface="Open Sans"/>
            </a:endParaRPr>
          </a:p>
        </p:txBody>
      </p:sp>
      <p:sp>
        <p:nvSpPr>
          <p:cNvPr id="152" name="Google Shape;152;p2"/>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Project overview</a:t>
            </a:r>
            <a:endParaRPr b="0" i="0" sz="2400" u="none" cap="none" strike="noStrike">
              <a:solidFill>
                <a:srgbClr val="5F6368"/>
              </a:solidFill>
              <a:latin typeface="Open Sans"/>
              <a:ea typeface="Open Sans"/>
              <a:cs typeface="Open Sans"/>
              <a:sym typeface="Open Sans"/>
            </a:endParaRPr>
          </a:p>
        </p:txBody>
      </p:sp>
      <p:sp>
        <p:nvSpPr>
          <p:cNvPr id="153" name="Google Shape;153;p2"/>
          <p:cNvSpPr/>
          <p:nvPr/>
        </p:nvSpPr>
        <p:spPr>
          <a:xfrm>
            <a:off x="517675" y="16042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
          <p:cNvSpPr txBox="1"/>
          <p:nvPr/>
        </p:nvSpPr>
        <p:spPr>
          <a:xfrm>
            <a:off x="1231075" y="3172985"/>
            <a:ext cx="3446100" cy="6927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4285F4"/>
                </a:solidFill>
                <a:latin typeface="Open Sans SemiBold"/>
                <a:ea typeface="Open Sans SemiBold"/>
                <a:cs typeface="Open Sans SemiBold"/>
                <a:sym typeface="Open Sans SemiBold"/>
              </a:rPr>
              <a:t>Project duration:</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August 2022 to </a:t>
            </a:r>
            <a:r>
              <a:rPr lang="en" sz="1200">
                <a:solidFill>
                  <a:srgbClr val="5F6368"/>
                </a:solidFill>
                <a:latin typeface="Open Sans"/>
                <a:ea typeface="Open Sans"/>
                <a:cs typeface="Open Sans"/>
                <a:sym typeface="Open Sans"/>
              </a:rPr>
              <a:t>Dec</a:t>
            </a:r>
            <a:r>
              <a:rPr b="0" i="0" lang="en" sz="1200" u="none" cap="none" strike="noStrike">
                <a:solidFill>
                  <a:srgbClr val="5F6368"/>
                </a:solidFill>
                <a:latin typeface="Open Sans"/>
                <a:ea typeface="Open Sans"/>
                <a:cs typeface="Open Sans"/>
                <a:sym typeface="Open Sans"/>
              </a:rPr>
              <a:t> 202</a:t>
            </a:r>
            <a:r>
              <a:rPr lang="en" sz="1200">
                <a:solidFill>
                  <a:srgbClr val="5F6368"/>
                </a:solidFill>
                <a:latin typeface="Open Sans"/>
                <a:ea typeface="Open Sans"/>
                <a:cs typeface="Open Sans"/>
                <a:sym typeface="Open Sans"/>
              </a:rPr>
              <a:t>2</a:t>
            </a:r>
            <a:endParaRPr b="1" i="0" sz="1200" u="none" cap="none" strike="noStrike">
              <a:solidFill>
                <a:srgbClr val="4285F4"/>
              </a:solidFill>
              <a:latin typeface="Open Sans"/>
              <a:ea typeface="Open Sans"/>
              <a:cs typeface="Open Sans"/>
              <a:sym typeface="Open Sans"/>
            </a:endParaRPr>
          </a:p>
        </p:txBody>
      </p:sp>
      <p:sp>
        <p:nvSpPr>
          <p:cNvPr id="155" name="Google Shape;155;p2"/>
          <p:cNvSpPr/>
          <p:nvPr/>
        </p:nvSpPr>
        <p:spPr>
          <a:xfrm>
            <a:off x="517675" y="3172985"/>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p:nvPr/>
        </p:nvSpPr>
        <p:spPr>
          <a:xfrm>
            <a:off x="643388" y="3299236"/>
            <a:ext cx="261874" cy="260801"/>
          </a:xfrm>
          <a:custGeom>
            <a:rect b="b" l="l" r="r" t="t"/>
            <a:pathLst>
              <a:path extrusionOk="0" h="1045" w="1048">
                <a:moveTo>
                  <a:pt x="522" y="0"/>
                </a:moveTo>
                <a:cubicBezTo>
                  <a:pt x="234" y="0"/>
                  <a:pt x="0" y="234"/>
                  <a:pt x="0" y="522"/>
                </a:cubicBezTo>
                <a:cubicBezTo>
                  <a:pt x="0" y="810"/>
                  <a:pt x="234" y="1044"/>
                  <a:pt x="522" y="1044"/>
                </a:cubicBezTo>
                <a:cubicBezTo>
                  <a:pt x="810" y="1044"/>
                  <a:pt x="1044" y="810"/>
                  <a:pt x="1044" y="522"/>
                </a:cubicBezTo>
                <a:cubicBezTo>
                  <a:pt x="1047" y="234"/>
                  <a:pt x="812" y="0"/>
                  <a:pt x="522" y="0"/>
                </a:cubicBezTo>
                <a:close/>
                <a:moveTo>
                  <a:pt x="525" y="940"/>
                </a:moveTo>
                <a:cubicBezTo>
                  <a:pt x="293" y="940"/>
                  <a:pt x="107" y="754"/>
                  <a:pt x="107" y="522"/>
                </a:cubicBezTo>
                <a:cubicBezTo>
                  <a:pt x="107" y="291"/>
                  <a:pt x="293" y="104"/>
                  <a:pt x="525" y="104"/>
                </a:cubicBezTo>
                <a:cubicBezTo>
                  <a:pt x="756" y="104"/>
                  <a:pt x="942" y="290"/>
                  <a:pt x="942" y="522"/>
                </a:cubicBezTo>
                <a:cubicBezTo>
                  <a:pt x="942" y="753"/>
                  <a:pt x="753" y="940"/>
                  <a:pt x="525" y="940"/>
                </a:cubicBezTo>
                <a:close/>
                <a:moveTo>
                  <a:pt x="471" y="259"/>
                </a:moveTo>
                <a:lnTo>
                  <a:pt x="471" y="573"/>
                </a:lnTo>
                <a:lnTo>
                  <a:pt x="745" y="736"/>
                </a:lnTo>
                <a:lnTo>
                  <a:pt x="784" y="671"/>
                </a:lnTo>
                <a:lnTo>
                  <a:pt x="550" y="533"/>
                </a:lnTo>
                <a:lnTo>
                  <a:pt x="550" y="259"/>
                </a:lnTo>
                <a:lnTo>
                  <a:pt x="471" y="25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 name="Google Shape;157;p2"/>
          <p:cNvSpPr/>
          <p:nvPr/>
        </p:nvSpPr>
        <p:spPr>
          <a:xfrm>
            <a:off x="610514" y="1752262"/>
            <a:ext cx="327623" cy="217176"/>
          </a:xfrm>
          <a:custGeom>
            <a:rect b="b" l="l" r="r" t="t"/>
            <a:pathLst>
              <a:path extrusionOk="0" h="765" w="1149">
                <a:moveTo>
                  <a:pt x="191" y="96"/>
                </a:moveTo>
                <a:lnTo>
                  <a:pt x="1052" y="96"/>
                </a:lnTo>
                <a:lnTo>
                  <a:pt x="1052" y="0"/>
                </a:lnTo>
                <a:lnTo>
                  <a:pt x="191" y="0"/>
                </a:lnTo>
                <a:cubicBezTo>
                  <a:pt x="138" y="0"/>
                  <a:pt x="95" y="42"/>
                  <a:pt x="95" y="96"/>
                </a:cubicBezTo>
                <a:lnTo>
                  <a:pt x="95" y="621"/>
                </a:lnTo>
                <a:lnTo>
                  <a:pt x="0" y="621"/>
                </a:lnTo>
                <a:lnTo>
                  <a:pt x="0" y="764"/>
                </a:lnTo>
                <a:lnTo>
                  <a:pt x="668" y="764"/>
                </a:lnTo>
                <a:lnTo>
                  <a:pt x="668" y="621"/>
                </a:lnTo>
                <a:lnTo>
                  <a:pt x="191" y="621"/>
                </a:lnTo>
                <a:lnTo>
                  <a:pt x="191" y="96"/>
                </a:lnTo>
                <a:close/>
                <a:moveTo>
                  <a:pt x="1100" y="189"/>
                </a:moveTo>
                <a:lnTo>
                  <a:pt x="812" y="189"/>
                </a:lnTo>
                <a:cubicBezTo>
                  <a:pt x="787" y="189"/>
                  <a:pt x="764" y="211"/>
                  <a:pt x="764" y="237"/>
                </a:cubicBezTo>
                <a:lnTo>
                  <a:pt x="764" y="714"/>
                </a:lnTo>
                <a:cubicBezTo>
                  <a:pt x="764" y="739"/>
                  <a:pt x="787" y="762"/>
                  <a:pt x="812" y="762"/>
                </a:cubicBezTo>
                <a:lnTo>
                  <a:pt x="1100" y="762"/>
                </a:lnTo>
                <a:cubicBezTo>
                  <a:pt x="1126" y="762"/>
                  <a:pt x="1148" y="739"/>
                  <a:pt x="1148" y="714"/>
                </a:cubicBezTo>
                <a:lnTo>
                  <a:pt x="1148" y="237"/>
                </a:lnTo>
                <a:cubicBezTo>
                  <a:pt x="1145" y="211"/>
                  <a:pt x="1126" y="189"/>
                  <a:pt x="1100" y="189"/>
                </a:cubicBezTo>
                <a:close/>
                <a:moveTo>
                  <a:pt x="1052" y="621"/>
                </a:moveTo>
                <a:lnTo>
                  <a:pt x="860" y="621"/>
                </a:lnTo>
                <a:lnTo>
                  <a:pt x="860" y="285"/>
                </a:lnTo>
                <a:lnTo>
                  <a:pt x="1052" y="285"/>
                </a:lnTo>
                <a:lnTo>
                  <a:pt x="1052" y="62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158" name="Google Shape;158;p2" title="Screenshot 2025-10-13 214834.png"/>
          <p:cNvPicPr preferRelativeResize="0"/>
          <p:nvPr/>
        </p:nvPicPr>
        <p:blipFill rotWithShape="1">
          <a:blip r:embed="rId3">
            <a:alphaModFix/>
          </a:blip>
          <a:srcRect b="6999" l="0" r="0" t="7008"/>
          <a:stretch/>
        </p:blipFill>
        <p:spPr>
          <a:xfrm>
            <a:off x="5170566" y="974800"/>
            <a:ext cx="3844959" cy="34381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
          <p:cNvSpPr txBox="1"/>
          <p:nvPr/>
        </p:nvSpPr>
        <p:spPr>
          <a:xfrm>
            <a:off x="517675" y="2237975"/>
            <a:ext cx="3446100" cy="13698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4285F4"/>
                </a:solidFill>
                <a:latin typeface="Open Sans SemiBold"/>
                <a:ea typeface="Open Sans SemiBold"/>
                <a:cs typeface="Open Sans SemiBold"/>
                <a:sym typeface="Open Sans SemiBold"/>
              </a:rPr>
              <a:t>The problem: </a:t>
            </a:r>
            <a:endParaRPr b="0" i="0" sz="1400" u="none" cap="none" strike="noStrike">
              <a:solidFill>
                <a:srgbClr val="1967D2"/>
              </a:solidFill>
              <a:latin typeface="Open Sans SemiBold"/>
              <a:ea typeface="Open Sans SemiBold"/>
              <a:cs typeface="Open Sans SemiBold"/>
              <a:sym typeface="Open Sans SemiBold"/>
            </a:endParaRPr>
          </a:p>
          <a:p>
            <a:pPr indent="0" lvl="0" marL="0" rtl="0" algn="l">
              <a:spcBef>
                <a:spcPts val="0"/>
              </a:spcBef>
              <a:spcAft>
                <a:spcPts val="0"/>
              </a:spcAft>
              <a:buNone/>
            </a:pPr>
            <a:r>
              <a:rPr lang="en" sz="1100">
                <a:solidFill>
                  <a:srgbClr val="5E6268"/>
                </a:solidFill>
              </a:rPr>
              <a:t>Coming up with a solution to make the app user friendly for our diverse community, checking if the app helps families with multiple children save time. Having an easy checkout </a:t>
            </a:r>
            <a:r>
              <a:rPr lang="en" sz="1100">
                <a:solidFill>
                  <a:srgbClr val="5E6268"/>
                </a:solidFill>
              </a:rPr>
              <a:t>process</a:t>
            </a:r>
            <a:r>
              <a:rPr lang="en" sz="1100">
                <a:solidFill>
                  <a:srgbClr val="5E6268"/>
                </a:solidFill>
              </a:rPr>
              <a:t>.</a:t>
            </a:r>
            <a:endParaRPr sz="1100">
              <a:solidFill>
                <a:srgbClr val="5E6268"/>
              </a:solidFill>
            </a:endParaRPr>
          </a:p>
          <a:p>
            <a:pPr indent="0" lvl="0" marL="0" marR="0" rtl="0" algn="l">
              <a:lnSpc>
                <a:spcPct val="150000"/>
              </a:lnSpc>
              <a:spcBef>
                <a:spcPts val="0"/>
              </a:spcBef>
              <a:spcAft>
                <a:spcPts val="0"/>
              </a:spcAft>
              <a:buClr>
                <a:srgbClr val="000000"/>
              </a:buClr>
              <a:buSzPts val="1200"/>
              <a:buFont typeface="Arial"/>
              <a:buNone/>
            </a:pPr>
            <a:r>
              <a:t/>
            </a:r>
            <a:endParaRPr sz="1200">
              <a:solidFill>
                <a:srgbClr val="5F6368"/>
              </a:solidFill>
              <a:latin typeface="Open Sans"/>
              <a:ea typeface="Open Sans"/>
              <a:cs typeface="Open Sans"/>
              <a:sym typeface="Open Sans"/>
            </a:endParaRPr>
          </a:p>
        </p:txBody>
      </p:sp>
      <p:sp>
        <p:nvSpPr>
          <p:cNvPr id="164" name="Google Shape;164;p3"/>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Project overview</a:t>
            </a:r>
            <a:endParaRPr b="0" i="0" sz="2400" u="none" cap="none" strike="noStrike">
              <a:solidFill>
                <a:srgbClr val="5F6368"/>
              </a:solidFill>
              <a:latin typeface="Open Sans"/>
              <a:ea typeface="Open Sans"/>
              <a:cs typeface="Open Sans"/>
              <a:sym typeface="Open Sans"/>
            </a:endParaRPr>
          </a:p>
        </p:txBody>
      </p:sp>
      <p:sp>
        <p:nvSpPr>
          <p:cNvPr id="165" name="Google Shape;165;p3"/>
          <p:cNvSpPr/>
          <p:nvPr/>
        </p:nvSpPr>
        <p:spPr>
          <a:xfrm>
            <a:off x="517675"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
          <p:cNvSpPr txBox="1"/>
          <p:nvPr/>
        </p:nvSpPr>
        <p:spPr>
          <a:xfrm>
            <a:off x="4572000" y="2237975"/>
            <a:ext cx="34461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The goal: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Making an app that is </a:t>
            </a:r>
            <a:r>
              <a:rPr lang="en" sz="1200">
                <a:solidFill>
                  <a:srgbClr val="5F6368"/>
                </a:solidFill>
                <a:latin typeface="Open Sans"/>
                <a:ea typeface="Open Sans"/>
                <a:cs typeface="Open Sans"/>
                <a:sym typeface="Open Sans"/>
              </a:rPr>
              <a:t>inclusive</a:t>
            </a:r>
            <a:r>
              <a:rPr b="0" i="0" lang="en" sz="1200" u="none" cap="none" strike="noStrike">
                <a:solidFill>
                  <a:srgbClr val="5F6368"/>
                </a:solidFill>
                <a:latin typeface="Open Sans"/>
                <a:ea typeface="Open Sans"/>
                <a:cs typeface="Open Sans"/>
                <a:sym typeface="Open Sans"/>
              </a:rPr>
              <a:t> and adding features to make it user friendly to all.</a:t>
            </a:r>
            <a:endParaRPr b="1" i="0" sz="1200" u="none" cap="none" strike="noStrike">
              <a:solidFill>
                <a:srgbClr val="4285F4"/>
              </a:solidFill>
              <a:latin typeface="Open Sans"/>
              <a:ea typeface="Open Sans"/>
              <a:cs typeface="Open Sans"/>
              <a:sym typeface="Open Sans"/>
            </a:endParaRPr>
          </a:p>
        </p:txBody>
      </p:sp>
      <p:sp>
        <p:nvSpPr>
          <p:cNvPr id="167" name="Google Shape;167;p3"/>
          <p:cNvSpPr/>
          <p:nvPr/>
        </p:nvSpPr>
        <p:spPr>
          <a:xfrm>
            <a:off x="4572000"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
          <p:cNvSpPr/>
          <p:nvPr/>
        </p:nvSpPr>
        <p:spPr>
          <a:xfrm>
            <a:off x="4684213" y="1653525"/>
            <a:ext cx="288875" cy="274249"/>
          </a:xfrm>
          <a:custGeom>
            <a:rect b="b" l="l" r="r" t="t"/>
            <a:pathLst>
              <a:path extrusionOk="0" h="993" w="1045">
                <a:moveTo>
                  <a:pt x="522" y="798"/>
                </a:moveTo>
                <a:lnTo>
                  <a:pt x="844" y="992"/>
                </a:lnTo>
                <a:lnTo>
                  <a:pt x="759" y="626"/>
                </a:lnTo>
                <a:lnTo>
                  <a:pt x="1044" y="378"/>
                </a:lnTo>
                <a:lnTo>
                  <a:pt x="669" y="347"/>
                </a:lnTo>
                <a:lnTo>
                  <a:pt x="522" y="0"/>
                </a:lnTo>
                <a:lnTo>
                  <a:pt x="375" y="347"/>
                </a:lnTo>
                <a:lnTo>
                  <a:pt x="0" y="378"/>
                </a:lnTo>
                <a:lnTo>
                  <a:pt x="285" y="626"/>
                </a:lnTo>
                <a:lnTo>
                  <a:pt x="200" y="992"/>
                </a:lnTo>
                <a:lnTo>
                  <a:pt x="522" y="798"/>
                </a:ln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3"/>
          <p:cNvSpPr/>
          <p:nvPr/>
        </p:nvSpPr>
        <p:spPr>
          <a:xfrm>
            <a:off x="640475" y="1656801"/>
            <a:ext cx="267700" cy="267700"/>
          </a:xfrm>
          <a:custGeom>
            <a:rect b="b" l="l" r="r" t="t"/>
            <a:pathLst>
              <a:path extrusionOk="0" h="209550" w="209550">
                <a:moveTo>
                  <a:pt x="115315" y="52353"/>
                </a:moveTo>
                <a:lnTo>
                  <a:pt x="115315" y="115315"/>
                </a:lnTo>
                <a:lnTo>
                  <a:pt x="94235" y="115315"/>
                </a:lnTo>
                <a:lnTo>
                  <a:pt x="94235" y="52353"/>
                </a:lnTo>
                <a:close/>
                <a:moveTo>
                  <a:pt x="115315" y="136256"/>
                </a:moveTo>
                <a:lnTo>
                  <a:pt x="115315" y="157197"/>
                </a:lnTo>
                <a:lnTo>
                  <a:pt x="94235" y="157197"/>
                </a:lnTo>
                <a:lnTo>
                  <a:pt x="94235" y="136256"/>
                </a:lnTo>
                <a:close/>
                <a:moveTo>
                  <a:pt x="104705" y="0"/>
                </a:moveTo>
                <a:lnTo>
                  <a:pt x="99400" y="140"/>
                </a:lnTo>
                <a:lnTo>
                  <a:pt x="94095" y="558"/>
                </a:lnTo>
                <a:lnTo>
                  <a:pt x="88790" y="1256"/>
                </a:lnTo>
                <a:lnTo>
                  <a:pt x="83625" y="2094"/>
                </a:lnTo>
                <a:lnTo>
                  <a:pt x="78599" y="3351"/>
                </a:lnTo>
                <a:lnTo>
                  <a:pt x="73573" y="4747"/>
                </a:lnTo>
                <a:lnTo>
                  <a:pt x="68687" y="6422"/>
                </a:lnTo>
                <a:lnTo>
                  <a:pt x="63940" y="8237"/>
                </a:lnTo>
                <a:lnTo>
                  <a:pt x="59333" y="10331"/>
                </a:lnTo>
                <a:lnTo>
                  <a:pt x="54866" y="12704"/>
                </a:lnTo>
                <a:lnTo>
                  <a:pt x="50398" y="15217"/>
                </a:lnTo>
                <a:lnTo>
                  <a:pt x="46210" y="17870"/>
                </a:lnTo>
                <a:lnTo>
                  <a:pt x="42022" y="20801"/>
                </a:lnTo>
                <a:lnTo>
                  <a:pt x="38113" y="23873"/>
                </a:lnTo>
                <a:lnTo>
                  <a:pt x="34343" y="27223"/>
                </a:lnTo>
                <a:lnTo>
                  <a:pt x="30714" y="30714"/>
                </a:lnTo>
                <a:lnTo>
                  <a:pt x="27223" y="34343"/>
                </a:lnTo>
                <a:lnTo>
                  <a:pt x="23873" y="38113"/>
                </a:lnTo>
                <a:lnTo>
                  <a:pt x="20801" y="42161"/>
                </a:lnTo>
                <a:lnTo>
                  <a:pt x="17870" y="46210"/>
                </a:lnTo>
                <a:lnTo>
                  <a:pt x="15217" y="50398"/>
                </a:lnTo>
                <a:lnTo>
                  <a:pt x="12704" y="54866"/>
                </a:lnTo>
                <a:lnTo>
                  <a:pt x="10331" y="59333"/>
                </a:lnTo>
                <a:lnTo>
                  <a:pt x="8237" y="63940"/>
                </a:lnTo>
                <a:lnTo>
                  <a:pt x="6282" y="68826"/>
                </a:lnTo>
                <a:lnTo>
                  <a:pt x="4747" y="73573"/>
                </a:lnTo>
                <a:lnTo>
                  <a:pt x="3351" y="78599"/>
                </a:lnTo>
                <a:lnTo>
                  <a:pt x="2094" y="83625"/>
                </a:lnTo>
                <a:lnTo>
                  <a:pt x="1256" y="88790"/>
                </a:lnTo>
                <a:lnTo>
                  <a:pt x="558" y="94095"/>
                </a:lnTo>
                <a:lnTo>
                  <a:pt x="140" y="99400"/>
                </a:lnTo>
                <a:lnTo>
                  <a:pt x="0" y="104845"/>
                </a:lnTo>
                <a:lnTo>
                  <a:pt x="140" y="110150"/>
                </a:lnTo>
                <a:lnTo>
                  <a:pt x="558" y="115455"/>
                </a:lnTo>
                <a:lnTo>
                  <a:pt x="1256" y="120760"/>
                </a:lnTo>
                <a:lnTo>
                  <a:pt x="2094" y="125925"/>
                </a:lnTo>
                <a:lnTo>
                  <a:pt x="3351" y="130951"/>
                </a:lnTo>
                <a:lnTo>
                  <a:pt x="4747" y="135977"/>
                </a:lnTo>
                <a:lnTo>
                  <a:pt x="6282" y="140863"/>
                </a:lnTo>
                <a:lnTo>
                  <a:pt x="8237" y="145610"/>
                </a:lnTo>
                <a:lnTo>
                  <a:pt x="10331" y="150217"/>
                </a:lnTo>
                <a:lnTo>
                  <a:pt x="12704" y="154684"/>
                </a:lnTo>
                <a:lnTo>
                  <a:pt x="15217" y="159152"/>
                </a:lnTo>
                <a:lnTo>
                  <a:pt x="17870" y="163340"/>
                </a:lnTo>
                <a:lnTo>
                  <a:pt x="20801" y="167528"/>
                </a:lnTo>
                <a:lnTo>
                  <a:pt x="23873" y="171437"/>
                </a:lnTo>
                <a:lnTo>
                  <a:pt x="27223" y="175207"/>
                </a:lnTo>
                <a:lnTo>
                  <a:pt x="30714" y="178836"/>
                </a:lnTo>
                <a:lnTo>
                  <a:pt x="34343" y="182327"/>
                </a:lnTo>
                <a:lnTo>
                  <a:pt x="38113" y="185677"/>
                </a:lnTo>
                <a:lnTo>
                  <a:pt x="42022" y="188749"/>
                </a:lnTo>
                <a:lnTo>
                  <a:pt x="46210" y="191680"/>
                </a:lnTo>
                <a:lnTo>
                  <a:pt x="50398" y="194333"/>
                </a:lnTo>
                <a:lnTo>
                  <a:pt x="54866" y="196846"/>
                </a:lnTo>
                <a:lnTo>
                  <a:pt x="59333" y="199219"/>
                </a:lnTo>
                <a:lnTo>
                  <a:pt x="63940" y="201313"/>
                </a:lnTo>
                <a:lnTo>
                  <a:pt x="68687" y="203268"/>
                </a:lnTo>
                <a:lnTo>
                  <a:pt x="73573" y="204803"/>
                </a:lnTo>
                <a:lnTo>
                  <a:pt x="78599" y="206199"/>
                </a:lnTo>
                <a:lnTo>
                  <a:pt x="83625" y="207456"/>
                </a:lnTo>
                <a:lnTo>
                  <a:pt x="88790" y="208294"/>
                </a:lnTo>
                <a:lnTo>
                  <a:pt x="94095" y="208992"/>
                </a:lnTo>
                <a:lnTo>
                  <a:pt x="99400" y="209410"/>
                </a:lnTo>
                <a:lnTo>
                  <a:pt x="104705" y="209550"/>
                </a:lnTo>
                <a:lnTo>
                  <a:pt x="110150" y="209410"/>
                </a:lnTo>
                <a:lnTo>
                  <a:pt x="115455" y="208992"/>
                </a:lnTo>
                <a:lnTo>
                  <a:pt x="120760" y="208294"/>
                </a:lnTo>
                <a:lnTo>
                  <a:pt x="125925" y="207456"/>
                </a:lnTo>
                <a:lnTo>
                  <a:pt x="130951" y="206199"/>
                </a:lnTo>
                <a:lnTo>
                  <a:pt x="135977" y="204803"/>
                </a:lnTo>
                <a:lnTo>
                  <a:pt x="140724" y="203268"/>
                </a:lnTo>
                <a:lnTo>
                  <a:pt x="145610" y="201313"/>
                </a:lnTo>
                <a:lnTo>
                  <a:pt x="150217" y="199219"/>
                </a:lnTo>
                <a:lnTo>
                  <a:pt x="154684" y="196846"/>
                </a:lnTo>
                <a:lnTo>
                  <a:pt x="159152" y="194333"/>
                </a:lnTo>
                <a:lnTo>
                  <a:pt x="163340" y="191680"/>
                </a:lnTo>
                <a:lnTo>
                  <a:pt x="167389" y="188749"/>
                </a:lnTo>
                <a:lnTo>
                  <a:pt x="171437" y="185677"/>
                </a:lnTo>
                <a:lnTo>
                  <a:pt x="175207" y="182327"/>
                </a:lnTo>
                <a:lnTo>
                  <a:pt x="178836" y="178836"/>
                </a:lnTo>
                <a:lnTo>
                  <a:pt x="182327" y="175207"/>
                </a:lnTo>
                <a:lnTo>
                  <a:pt x="185677" y="171437"/>
                </a:lnTo>
                <a:lnTo>
                  <a:pt x="188749" y="167528"/>
                </a:lnTo>
                <a:lnTo>
                  <a:pt x="191680" y="163340"/>
                </a:lnTo>
                <a:lnTo>
                  <a:pt x="194333" y="159152"/>
                </a:lnTo>
                <a:lnTo>
                  <a:pt x="196846" y="154684"/>
                </a:lnTo>
                <a:lnTo>
                  <a:pt x="199219" y="150217"/>
                </a:lnTo>
                <a:lnTo>
                  <a:pt x="201313" y="145610"/>
                </a:lnTo>
                <a:lnTo>
                  <a:pt x="203128" y="140863"/>
                </a:lnTo>
                <a:lnTo>
                  <a:pt x="204803" y="135977"/>
                </a:lnTo>
                <a:lnTo>
                  <a:pt x="206199" y="130951"/>
                </a:lnTo>
                <a:lnTo>
                  <a:pt x="207456" y="125925"/>
                </a:lnTo>
                <a:lnTo>
                  <a:pt x="208294" y="120760"/>
                </a:lnTo>
                <a:lnTo>
                  <a:pt x="208992" y="115455"/>
                </a:lnTo>
                <a:lnTo>
                  <a:pt x="209410" y="110150"/>
                </a:lnTo>
                <a:lnTo>
                  <a:pt x="209550" y="104845"/>
                </a:lnTo>
                <a:lnTo>
                  <a:pt x="209410" y="99400"/>
                </a:lnTo>
                <a:lnTo>
                  <a:pt x="208992" y="94095"/>
                </a:lnTo>
                <a:lnTo>
                  <a:pt x="208294" y="88790"/>
                </a:lnTo>
                <a:lnTo>
                  <a:pt x="207456" y="83625"/>
                </a:lnTo>
                <a:lnTo>
                  <a:pt x="206199" y="78599"/>
                </a:lnTo>
                <a:lnTo>
                  <a:pt x="204803" y="73573"/>
                </a:lnTo>
                <a:lnTo>
                  <a:pt x="203128" y="68826"/>
                </a:lnTo>
                <a:lnTo>
                  <a:pt x="201313" y="63940"/>
                </a:lnTo>
                <a:lnTo>
                  <a:pt x="199219" y="59333"/>
                </a:lnTo>
                <a:lnTo>
                  <a:pt x="196846" y="54866"/>
                </a:lnTo>
                <a:lnTo>
                  <a:pt x="194333" y="50398"/>
                </a:lnTo>
                <a:lnTo>
                  <a:pt x="191680" y="46210"/>
                </a:lnTo>
                <a:lnTo>
                  <a:pt x="188749" y="42161"/>
                </a:lnTo>
                <a:lnTo>
                  <a:pt x="185677" y="38113"/>
                </a:lnTo>
                <a:lnTo>
                  <a:pt x="182327" y="34343"/>
                </a:lnTo>
                <a:lnTo>
                  <a:pt x="178836" y="30714"/>
                </a:lnTo>
                <a:lnTo>
                  <a:pt x="175207" y="27223"/>
                </a:lnTo>
                <a:lnTo>
                  <a:pt x="171437" y="23873"/>
                </a:lnTo>
                <a:lnTo>
                  <a:pt x="167389" y="20801"/>
                </a:lnTo>
                <a:lnTo>
                  <a:pt x="163340" y="17870"/>
                </a:lnTo>
                <a:lnTo>
                  <a:pt x="159152" y="15217"/>
                </a:lnTo>
                <a:lnTo>
                  <a:pt x="154684" y="12704"/>
                </a:lnTo>
                <a:lnTo>
                  <a:pt x="150217" y="10331"/>
                </a:lnTo>
                <a:lnTo>
                  <a:pt x="145610" y="8237"/>
                </a:lnTo>
                <a:lnTo>
                  <a:pt x="140724" y="6422"/>
                </a:lnTo>
                <a:lnTo>
                  <a:pt x="135977" y="4747"/>
                </a:lnTo>
                <a:lnTo>
                  <a:pt x="130951" y="3351"/>
                </a:lnTo>
                <a:lnTo>
                  <a:pt x="125925" y="2094"/>
                </a:lnTo>
                <a:lnTo>
                  <a:pt x="120760" y="1256"/>
                </a:lnTo>
                <a:lnTo>
                  <a:pt x="115455" y="558"/>
                </a:lnTo>
                <a:lnTo>
                  <a:pt x="110150" y="140"/>
                </a:lnTo>
                <a:lnTo>
                  <a:pt x="10470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
          <p:cNvSpPr txBox="1"/>
          <p:nvPr/>
        </p:nvSpPr>
        <p:spPr>
          <a:xfrm>
            <a:off x="517675" y="2237975"/>
            <a:ext cx="3446100" cy="7848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My role: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lead UX designer, UX researcher, UX writer </a:t>
            </a:r>
            <a:endParaRPr b="1" i="0" sz="1200" u="none" cap="none" strike="noStrike">
              <a:solidFill>
                <a:srgbClr val="4285F4"/>
              </a:solidFill>
              <a:latin typeface="Open Sans"/>
              <a:ea typeface="Open Sans"/>
              <a:cs typeface="Open Sans"/>
              <a:sym typeface="Open Sans"/>
            </a:endParaRPr>
          </a:p>
        </p:txBody>
      </p:sp>
      <p:sp>
        <p:nvSpPr>
          <p:cNvPr id="175" name="Google Shape;175;p4"/>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Project overview</a:t>
            </a:r>
            <a:endParaRPr b="0" i="0" sz="2400" u="none" cap="none" strike="noStrike">
              <a:solidFill>
                <a:srgbClr val="5F6368"/>
              </a:solidFill>
              <a:latin typeface="Open Sans"/>
              <a:ea typeface="Open Sans"/>
              <a:cs typeface="Open Sans"/>
              <a:sym typeface="Open Sans"/>
            </a:endParaRPr>
          </a:p>
        </p:txBody>
      </p:sp>
      <p:sp>
        <p:nvSpPr>
          <p:cNvPr id="176" name="Google Shape;176;p4"/>
          <p:cNvSpPr/>
          <p:nvPr/>
        </p:nvSpPr>
        <p:spPr>
          <a:xfrm>
            <a:off x="517675"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
          <p:cNvSpPr txBox="1"/>
          <p:nvPr/>
        </p:nvSpPr>
        <p:spPr>
          <a:xfrm>
            <a:off x="4572000" y="2237975"/>
            <a:ext cx="3446100" cy="1061799"/>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Responsibilities</a:t>
            </a:r>
            <a:r>
              <a:rPr b="0" i="0" lang="en" sz="1400" u="none" cap="none" strike="noStrike">
                <a:solidFill>
                  <a:srgbClr val="1967D2"/>
                </a:solidFill>
                <a:latin typeface="Open Sans SemiBold"/>
                <a:ea typeface="Open Sans SemiBold"/>
                <a:cs typeface="Open Sans SemiBold"/>
                <a:sym typeface="Open Sans SemiBold"/>
              </a:rPr>
              <a:t>: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user research, wireframing, low &amp; high fidelity prototyping, </a:t>
            </a:r>
            <a:endParaRPr b="1" i="0" sz="1200" u="none" cap="none" strike="noStrike">
              <a:solidFill>
                <a:srgbClr val="4285F4"/>
              </a:solidFill>
              <a:latin typeface="Open Sans"/>
              <a:ea typeface="Open Sans"/>
              <a:cs typeface="Open Sans"/>
              <a:sym typeface="Open Sans"/>
            </a:endParaRPr>
          </a:p>
        </p:txBody>
      </p:sp>
      <p:sp>
        <p:nvSpPr>
          <p:cNvPr id="178" name="Google Shape;178;p4"/>
          <p:cNvSpPr/>
          <p:nvPr/>
        </p:nvSpPr>
        <p:spPr>
          <a:xfrm>
            <a:off x="4572000"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4"/>
          <p:cNvSpPr/>
          <p:nvPr/>
        </p:nvSpPr>
        <p:spPr>
          <a:xfrm>
            <a:off x="645441" y="1662440"/>
            <a:ext cx="257757" cy="256421"/>
          </a:xfrm>
          <a:custGeom>
            <a:rect b="b" l="l" r="r" t="t"/>
            <a:pathLst>
              <a:path extrusionOk="0" h="847" w="851">
                <a:moveTo>
                  <a:pt x="423" y="423"/>
                </a:moveTo>
                <a:cubicBezTo>
                  <a:pt x="542" y="423"/>
                  <a:pt x="635" y="327"/>
                  <a:pt x="635" y="212"/>
                </a:cubicBezTo>
                <a:cubicBezTo>
                  <a:pt x="635" y="93"/>
                  <a:pt x="539" y="0"/>
                  <a:pt x="423" y="0"/>
                </a:cubicBezTo>
                <a:cubicBezTo>
                  <a:pt x="308" y="0"/>
                  <a:pt x="212" y="96"/>
                  <a:pt x="212" y="212"/>
                </a:cubicBezTo>
                <a:cubicBezTo>
                  <a:pt x="209" y="327"/>
                  <a:pt x="305" y="423"/>
                  <a:pt x="423" y="423"/>
                </a:cubicBezTo>
                <a:close/>
                <a:moveTo>
                  <a:pt x="423" y="528"/>
                </a:moveTo>
                <a:cubicBezTo>
                  <a:pt x="282" y="528"/>
                  <a:pt x="0" y="598"/>
                  <a:pt x="0" y="738"/>
                </a:cubicBezTo>
                <a:lnTo>
                  <a:pt x="0" y="846"/>
                </a:lnTo>
                <a:lnTo>
                  <a:pt x="850" y="846"/>
                </a:lnTo>
                <a:lnTo>
                  <a:pt x="850" y="738"/>
                </a:lnTo>
                <a:cubicBezTo>
                  <a:pt x="847" y="601"/>
                  <a:pt x="564" y="528"/>
                  <a:pt x="423" y="52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 name="Google Shape;180;p4"/>
          <p:cNvSpPr/>
          <p:nvPr/>
        </p:nvSpPr>
        <p:spPr>
          <a:xfrm>
            <a:off x="4685687" y="1710781"/>
            <a:ext cx="285935" cy="159748"/>
          </a:xfrm>
          <a:custGeom>
            <a:rect b="b" l="l" r="r" t="t"/>
            <a:pathLst>
              <a:path extrusionOk="0" h="526" w="941">
                <a:moveTo>
                  <a:pt x="0" y="316"/>
                </a:moveTo>
                <a:lnTo>
                  <a:pt x="105" y="316"/>
                </a:lnTo>
                <a:lnTo>
                  <a:pt x="105" y="212"/>
                </a:lnTo>
                <a:lnTo>
                  <a:pt x="0" y="212"/>
                </a:lnTo>
                <a:lnTo>
                  <a:pt x="0" y="316"/>
                </a:lnTo>
                <a:close/>
                <a:moveTo>
                  <a:pt x="0" y="525"/>
                </a:moveTo>
                <a:lnTo>
                  <a:pt x="105" y="525"/>
                </a:lnTo>
                <a:lnTo>
                  <a:pt x="105" y="421"/>
                </a:lnTo>
                <a:lnTo>
                  <a:pt x="0" y="421"/>
                </a:lnTo>
                <a:lnTo>
                  <a:pt x="0" y="525"/>
                </a:lnTo>
                <a:close/>
                <a:moveTo>
                  <a:pt x="0" y="105"/>
                </a:moveTo>
                <a:lnTo>
                  <a:pt x="105" y="105"/>
                </a:lnTo>
                <a:lnTo>
                  <a:pt x="105" y="0"/>
                </a:lnTo>
                <a:lnTo>
                  <a:pt x="0" y="0"/>
                </a:lnTo>
                <a:lnTo>
                  <a:pt x="0" y="105"/>
                </a:lnTo>
                <a:close/>
                <a:moveTo>
                  <a:pt x="209" y="316"/>
                </a:moveTo>
                <a:lnTo>
                  <a:pt x="940" y="316"/>
                </a:lnTo>
                <a:lnTo>
                  <a:pt x="940" y="212"/>
                </a:lnTo>
                <a:lnTo>
                  <a:pt x="209" y="212"/>
                </a:lnTo>
                <a:lnTo>
                  <a:pt x="209" y="316"/>
                </a:lnTo>
                <a:close/>
                <a:moveTo>
                  <a:pt x="209" y="525"/>
                </a:moveTo>
                <a:lnTo>
                  <a:pt x="940" y="525"/>
                </a:lnTo>
                <a:lnTo>
                  <a:pt x="940" y="421"/>
                </a:lnTo>
                <a:lnTo>
                  <a:pt x="209" y="421"/>
                </a:lnTo>
                <a:lnTo>
                  <a:pt x="209" y="525"/>
                </a:lnTo>
                <a:close/>
                <a:moveTo>
                  <a:pt x="209" y="0"/>
                </a:moveTo>
                <a:lnTo>
                  <a:pt x="209" y="105"/>
                </a:lnTo>
                <a:lnTo>
                  <a:pt x="940" y="105"/>
                </a:lnTo>
                <a:lnTo>
                  <a:pt x="940" y="0"/>
                </a:lnTo>
                <a:lnTo>
                  <a:pt x="209"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4335"/>
        </a:solidFill>
      </p:bgPr>
    </p:bg>
    <p:spTree>
      <p:nvGrpSpPr>
        <p:cNvPr id="184" name="Shape 184"/>
        <p:cNvGrpSpPr/>
        <p:nvPr/>
      </p:nvGrpSpPr>
      <p:grpSpPr>
        <a:xfrm>
          <a:off x="0" y="0"/>
          <a:ext cx="0" cy="0"/>
          <a:chOff x="0" y="0"/>
          <a:chExt cx="0" cy="0"/>
        </a:xfrm>
      </p:grpSpPr>
      <p:sp>
        <p:nvSpPr>
          <p:cNvPr id="185" name="Google Shape;185;p5"/>
          <p:cNvSpPr txBox="1"/>
          <p:nvPr/>
        </p:nvSpPr>
        <p:spPr>
          <a:xfrm>
            <a:off x="-460025" y="2082300"/>
            <a:ext cx="3704400" cy="978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Understanding</a:t>
            </a:r>
            <a:endParaRPr b="0" i="0" sz="2400" u="none" cap="none" strike="noStrike">
              <a:solidFill>
                <a:srgbClr val="FFFFFF"/>
              </a:solidFill>
              <a:latin typeface="Open Sans"/>
              <a:ea typeface="Open Sans"/>
              <a:cs typeface="Open Sans"/>
              <a:sym typeface="Open Sans"/>
            </a:endParaRPr>
          </a:p>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the user</a:t>
            </a:r>
            <a:endParaRPr b="0" i="0" sz="2400" u="none" cap="none" strike="noStrike">
              <a:solidFill>
                <a:srgbClr val="FFFFFF"/>
              </a:solidFill>
              <a:latin typeface="Open Sans"/>
              <a:ea typeface="Open Sans"/>
              <a:cs typeface="Open Sans"/>
              <a:sym typeface="Open Sans"/>
            </a:endParaRPr>
          </a:p>
        </p:txBody>
      </p:sp>
      <p:sp>
        <p:nvSpPr>
          <p:cNvPr id="186" name="Google Shape;186;p5"/>
          <p:cNvSpPr txBox="1"/>
          <p:nvPr/>
        </p:nvSpPr>
        <p:spPr>
          <a:xfrm>
            <a:off x="3712425" y="1886850"/>
            <a:ext cx="3946500" cy="1369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User research</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Personas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Problem statements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User journey maps</a:t>
            </a:r>
            <a:endParaRPr b="0" i="0" sz="1400" u="none" cap="none" strike="noStrike">
              <a:solidFill>
                <a:srgbClr val="FFFFFF"/>
              </a:solidFill>
              <a:latin typeface="Open Sans"/>
              <a:ea typeface="Open Sans"/>
              <a:cs typeface="Open Sans"/>
              <a:sym typeface="Open Sans"/>
            </a:endParaRPr>
          </a:p>
        </p:txBody>
      </p:sp>
      <p:cxnSp>
        <p:nvCxnSpPr>
          <p:cNvPr id="187" name="Google Shape;187;p5"/>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6"/>
          <p:cNvSpPr/>
          <p:nvPr/>
        </p:nvSpPr>
        <p:spPr>
          <a:xfrm>
            <a:off x="517675" y="1832019"/>
            <a:ext cx="7938900" cy="25104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6"/>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User research: summary</a:t>
            </a:r>
            <a:endParaRPr b="0" i="0" sz="2400" u="none" cap="none" strike="noStrike">
              <a:solidFill>
                <a:srgbClr val="5F6368"/>
              </a:solidFill>
              <a:latin typeface="Open Sans"/>
              <a:ea typeface="Open Sans"/>
              <a:cs typeface="Open Sans"/>
              <a:sym typeface="Open Sans"/>
            </a:endParaRPr>
          </a:p>
        </p:txBody>
      </p:sp>
      <p:sp>
        <p:nvSpPr>
          <p:cNvPr id="194" name="Google Shape;194;p6"/>
          <p:cNvSpPr txBox="1"/>
          <p:nvPr/>
        </p:nvSpPr>
        <p:spPr>
          <a:xfrm>
            <a:off x="919075" y="2461800"/>
            <a:ext cx="7136100" cy="1883562"/>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None/>
            </a:pPr>
            <a:r>
              <a:rPr b="0" i="0" lang="en" sz="1200" u="none" cap="none" strike="noStrike">
                <a:solidFill>
                  <a:srgbClr val="5E6268"/>
                </a:solidFill>
                <a:latin typeface="Open Sans"/>
                <a:ea typeface="Open Sans"/>
                <a:cs typeface="Open Sans"/>
                <a:sym typeface="Open Sans"/>
              </a:rPr>
              <a:t>I used an unmoderated usability study, that was conducted remotely within the USA. I had six participants that completed individual registration task within the app. One of the participants is randomly chosen to register a family of four. Each participant will complete a questionnaire about their experience. Each session will last 20 minutes, including an introduction and list of tasks. One of the main focus was Figuring out how to make the app user friendly for our diverse community, checking if the app helps families with multiple children save time. I soon found that I needed to add more features from zooming in to a speech to text option for classes. </a:t>
            </a:r>
            <a:endParaRPr b="0" i="0" sz="1200" u="none" cap="none" strike="noStrike">
              <a:solidFill>
                <a:srgbClr val="000000"/>
              </a:solidFill>
              <a:latin typeface="Open Sans"/>
              <a:ea typeface="Open Sans"/>
              <a:cs typeface="Open Sans"/>
              <a:sym typeface="Open Sans"/>
            </a:endParaRPr>
          </a:p>
          <a:p>
            <a:pPr indent="0" lvl="0" marL="0" marR="0" rtl="0" algn="ctr">
              <a:lnSpc>
                <a:spcPct val="115000"/>
              </a:lnSpc>
              <a:spcBef>
                <a:spcPts val="0"/>
              </a:spcBef>
              <a:spcAft>
                <a:spcPts val="0"/>
              </a:spcAft>
              <a:buClr>
                <a:srgbClr val="000000"/>
              </a:buClr>
              <a:buSzPts val="1200"/>
              <a:buFont typeface="Arial"/>
              <a:buNone/>
            </a:pPr>
            <a:r>
              <a:t/>
            </a:r>
            <a:endParaRPr b="0" i="0" sz="1200" u="none" cap="none" strike="noStrike">
              <a:solidFill>
                <a:srgbClr val="5F6368"/>
              </a:solidFill>
              <a:latin typeface="Open Sans"/>
              <a:ea typeface="Open Sans"/>
              <a:cs typeface="Open Sans"/>
              <a:sym typeface="Open Sans"/>
            </a:endParaRPr>
          </a:p>
        </p:txBody>
      </p:sp>
      <p:sp>
        <p:nvSpPr>
          <p:cNvPr id="195" name="Google Shape;195;p6"/>
          <p:cNvSpPr/>
          <p:nvPr/>
        </p:nvSpPr>
        <p:spPr>
          <a:xfrm>
            <a:off x="3779525" y="1424250"/>
            <a:ext cx="1230300" cy="930900"/>
          </a:xfrm>
          <a:prstGeom prst="ellipse">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
          <p:cNvSpPr/>
          <p:nvPr/>
        </p:nvSpPr>
        <p:spPr>
          <a:xfrm>
            <a:off x="4073442" y="1669663"/>
            <a:ext cx="642476" cy="440063"/>
          </a:xfrm>
          <a:custGeom>
            <a:rect b="b" l="l" r="r" t="t"/>
            <a:pathLst>
              <a:path extrusionOk="0" h="941" w="940">
                <a:moveTo>
                  <a:pt x="835" y="0"/>
                </a:moveTo>
                <a:lnTo>
                  <a:pt x="104" y="0"/>
                </a:lnTo>
                <a:cubicBezTo>
                  <a:pt x="47" y="0"/>
                  <a:pt x="0" y="48"/>
                  <a:pt x="0" y="105"/>
                </a:cubicBezTo>
                <a:lnTo>
                  <a:pt x="0" y="835"/>
                </a:lnTo>
                <a:cubicBezTo>
                  <a:pt x="0" y="892"/>
                  <a:pt x="47" y="940"/>
                  <a:pt x="104" y="940"/>
                </a:cubicBezTo>
                <a:lnTo>
                  <a:pt x="835" y="940"/>
                </a:lnTo>
                <a:cubicBezTo>
                  <a:pt x="891" y="940"/>
                  <a:pt x="939" y="892"/>
                  <a:pt x="939" y="835"/>
                </a:cubicBezTo>
                <a:lnTo>
                  <a:pt x="939" y="105"/>
                </a:lnTo>
                <a:cubicBezTo>
                  <a:pt x="939" y="48"/>
                  <a:pt x="891" y="0"/>
                  <a:pt x="835" y="0"/>
                </a:cubicBezTo>
                <a:close/>
                <a:moveTo>
                  <a:pt x="313" y="734"/>
                </a:moveTo>
                <a:lnTo>
                  <a:pt x="208" y="734"/>
                </a:lnTo>
                <a:lnTo>
                  <a:pt x="208" y="367"/>
                </a:lnTo>
                <a:lnTo>
                  <a:pt x="313" y="367"/>
                </a:lnTo>
                <a:lnTo>
                  <a:pt x="313" y="734"/>
                </a:lnTo>
                <a:close/>
                <a:moveTo>
                  <a:pt x="522" y="734"/>
                </a:moveTo>
                <a:lnTo>
                  <a:pt x="417" y="734"/>
                </a:lnTo>
                <a:lnTo>
                  <a:pt x="417" y="212"/>
                </a:lnTo>
                <a:lnTo>
                  <a:pt x="522" y="212"/>
                </a:lnTo>
                <a:lnTo>
                  <a:pt x="522" y="734"/>
                </a:lnTo>
                <a:close/>
                <a:moveTo>
                  <a:pt x="730" y="734"/>
                </a:moveTo>
                <a:lnTo>
                  <a:pt x="626" y="734"/>
                </a:lnTo>
                <a:lnTo>
                  <a:pt x="626" y="525"/>
                </a:lnTo>
                <a:lnTo>
                  <a:pt x="730" y="525"/>
                </a:lnTo>
                <a:lnTo>
                  <a:pt x="730" y="73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7"/>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User research: pain points</a:t>
            </a:r>
            <a:endParaRPr b="0" i="0" sz="2400" u="none" cap="none" strike="noStrike">
              <a:solidFill>
                <a:srgbClr val="5F6368"/>
              </a:solidFill>
              <a:latin typeface="Open Sans"/>
              <a:ea typeface="Open Sans"/>
              <a:cs typeface="Open Sans"/>
              <a:sym typeface="Open Sans"/>
            </a:endParaRPr>
          </a:p>
        </p:txBody>
      </p:sp>
      <p:sp>
        <p:nvSpPr>
          <p:cNvPr id="202" name="Google Shape;202;p7"/>
          <p:cNvSpPr txBox="1"/>
          <p:nvPr/>
        </p:nvSpPr>
        <p:spPr>
          <a:xfrm>
            <a:off x="441463" y="2008850"/>
            <a:ext cx="1872600" cy="830966"/>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navigate without log in  </a:t>
            </a:r>
            <a:endParaRPr b="0" i="0" sz="1400" u="none" cap="none" strike="noStrike">
              <a:solidFill>
                <a:srgbClr val="4285F4"/>
              </a:solidFill>
              <a:latin typeface="Open Sans SemiBold"/>
              <a:ea typeface="Open Sans SemiBold"/>
              <a:cs typeface="Open Sans SemiBold"/>
              <a:sym typeface="Open Sans SemiBold"/>
            </a:endParaRPr>
          </a:p>
        </p:txBody>
      </p:sp>
      <p:sp>
        <p:nvSpPr>
          <p:cNvPr id="203" name="Google Shape;203;p7"/>
          <p:cNvSpPr txBox="1"/>
          <p:nvPr/>
        </p:nvSpPr>
        <p:spPr>
          <a:xfrm>
            <a:off x="441463" y="2983867"/>
            <a:ext cx="1872600" cy="1246465"/>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 general, users want to browse the classes without login. Give the users the ability to view classes before login. </a:t>
            </a:r>
            <a:endParaRPr b="0" i="0" sz="1200" u="none" cap="none" strike="noStrike">
              <a:solidFill>
                <a:srgbClr val="000000"/>
              </a:solidFill>
              <a:latin typeface="Arial"/>
              <a:ea typeface="Arial"/>
              <a:cs typeface="Arial"/>
              <a:sym typeface="Arial"/>
            </a:endParaRPr>
          </a:p>
        </p:txBody>
      </p:sp>
      <p:sp>
        <p:nvSpPr>
          <p:cNvPr id="204" name="Google Shape;204;p7"/>
          <p:cNvSpPr txBox="1"/>
          <p:nvPr/>
        </p:nvSpPr>
        <p:spPr>
          <a:xfrm>
            <a:off x="2582713" y="2008850"/>
            <a:ext cx="1872600" cy="830966"/>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 view/select multiple classes</a:t>
            </a:r>
            <a:endParaRPr b="0" i="0" sz="1400" u="none" cap="none" strike="noStrike">
              <a:solidFill>
                <a:srgbClr val="4285F4"/>
              </a:solidFill>
              <a:latin typeface="Open Sans SemiBold"/>
              <a:ea typeface="Open Sans SemiBold"/>
              <a:cs typeface="Open Sans SemiBold"/>
              <a:sym typeface="Open Sans SemiBold"/>
            </a:endParaRPr>
          </a:p>
        </p:txBody>
      </p:sp>
      <p:sp>
        <p:nvSpPr>
          <p:cNvPr id="205" name="Google Shape;205;p7"/>
          <p:cNvSpPr txBox="1"/>
          <p:nvPr/>
        </p:nvSpPr>
        <p:spPr>
          <a:xfrm>
            <a:off x="2589170" y="2983867"/>
            <a:ext cx="1872600" cy="1034099"/>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Users would want to book multiple selection at a time and view multiple classes.</a:t>
            </a:r>
            <a:endParaRPr b="0" i="0" sz="1200" u="none" cap="none" strike="noStrike">
              <a:solidFill>
                <a:srgbClr val="000000"/>
              </a:solidFill>
              <a:latin typeface="Arial"/>
              <a:ea typeface="Arial"/>
              <a:cs typeface="Arial"/>
              <a:sym typeface="Arial"/>
            </a:endParaRPr>
          </a:p>
        </p:txBody>
      </p:sp>
      <p:sp>
        <p:nvSpPr>
          <p:cNvPr id="206" name="Google Shape;206;p7"/>
          <p:cNvSpPr txBox="1"/>
          <p:nvPr/>
        </p:nvSpPr>
        <p:spPr>
          <a:xfrm>
            <a:off x="4723969" y="2008850"/>
            <a:ext cx="1872600" cy="830966"/>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Unable to save favorite class.</a:t>
            </a:r>
            <a:endParaRPr b="0" i="0" sz="1400" u="none" cap="none" strike="noStrike">
              <a:solidFill>
                <a:srgbClr val="4285F4"/>
              </a:solidFill>
              <a:latin typeface="Open Sans SemiBold"/>
              <a:ea typeface="Open Sans SemiBold"/>
              <a:cs typeface="Open Sans SemiBold"/>
              <a:sym typeface="Open Sans SemiBold"/>
            </a:endParaRPr>
          </a:p>
        </p:txBody>
      </p:sp>
      <p:sp>
        <p:nvSpPr>
          <p:cNvPr id="207" name="Google Shape;207;p7"/>
          <p:cNvSpPr txBox="1"/>
          <p:nvPr/>
        </p:nvSpPr>
        <p:spPr>
          <a:xfrm>
            <a:off x="4736882" y="2877685"/>
            <a:ext cx="1872600" cy="14316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Users want the ability to have a link to favorite classes to make it easier to locate. Adding a favorite </a:t>
            </a:r>
            <a:r>
              <a:rPr lang="en" sz="1200">
                <a:solidFill>
                  <a:srgbClr val="5F6368"/>
                </a:solidFill>
                <a:latin typeface="Open Sans"/>
                <a:ea typeface="Open Sans"/>
                <a:cs typeface="Open Sans"/>
                <a:sym typeface="Open Sans"/>
              </a:rPr>
              <a:t>feature</a:t>
            </a:r>
            <a:r>
              <a:rPr b="0" i="0" lang="en" sz="1200" u="none" cap="none" strike="noStrike">
                <a:solidFill>
                  <a:srgbClr val="5F6368"/>
                </a:solidFill>
                <a:latin typeface="Open Sans"/>
                <a:ea typeface="Open Sans"/>
                <a:cs typeface="Open Sans"/>
                <a:sym typeface="Open Sans"/>
              </a:rPr>
              <a:t> would be a great addition.</a:t>
            </a:r>
            <a:endParaRPr b="0" i="0" sz="1200" u="none" cap="none" strike="noStrike">
              <a:solidFill>
                <a:srgbClr val="000000"/>
              </a:solidFill>
              <a:latin typeface="Arial"/>
              <a:ea typeface="Arial"/>
              <a:cs typeface="Arial"/>
              <a:sym typeface="Arial"/>
            </a:endParaRPr>
          </a:p>
        </p:txBody>
      </p:sp>
      <p:sp>
        <p:nvSpPr>
          <p:cNvPr id="208" name="Google Shape;208;p7"/>
          <p:cNvSpPr txBox="1"/>
          <p:nvPr/>
        </p:nvSpPr>
        <p:spPr>
          <a:xfrm>
            <a:off x="6865219" y="2008850"/>
            <a:ext cx="1872600" cy="830966"/>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Fast check out not an option</a:t>
            </a:r>
            <a:endParaRPr b="0" i="0" sz="1400" u="none" cap="none" strike="noStrike">
              <a:solidFill>
                <a:srgbClr val="4285F4"/>
              </a:solidFill>
              <a:latin typeface="Open Sans SemiBold"/>
              <a:ea typeface="Open Sans SemiBold"/>
              <a:cs typeface="Open Sans SemiBold"/>
              <a:sym typeface="Open Sans SemiBold"/>
            </a:endParaRPr>
          </a:p>
        </p:txBody>
      </p:sp>
      <p:sp>
        <p:nvSpPr>
          <p:cNvPr id="209" name="Google Shape;209;p7"/>
          <p:cNvSpPr txBox="1"/>
          <p:nvPr/>
        </p:nvSpPr>
        <p:spPr>
          <a:xfrm>
            <a:off x="6878138" y="2771503"/>
            <a:ext cx="1872600" cy="1671196"/>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 general, users want a fast checkout process that doesn’t require many steps. This would be a great addition to add a fast checkout process.</a:t>
            </a:r>
            <a:endParaRPr b="0" i="0" sz="1200" u="none" cap="none" strike="noStrike">
              <a:solidFill>
                <a:srgbClr val="000000"/>
              </a:solidFill>
              <a:latin typeface="Arial"/>
              <a:ea typeface="Arial"/>
              <a:cs typeface="Arial"/>
              <a:sym typeface="Arial"/>
            </a:endParaRPr>
          </a:p>
        </p:txBody>
      </p:sp>
      <p:sp>
        <p:nvSpPr>
          <p:cNvPr id="210" name="Google Shape;210;p7"/>
          <p:cNvSpPr/>
          <p:nvPr/>
        </p:nvSpPr>
        <p:spPr>
          <a:xfrm>
            <a:off x="112112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1</a:t>
            </a:r>
            <a:endParaRPr b="0" i="0" sz="2200" u="none" cap="none" strike="noStrike">
              <a:solidFill>
                <a:srgbClr val="FFFFFF"/>
              </a:solidFill>
              <a:latin typeface="Arial"/>
              <a:ea typeface="Arial"/>
              <a:cs typeface="Arial"/>
              <a:sym typeface="Arial"/>
            </a:endParaRPr>
          </a:p>
        </p:txBody>
      </p:sp>
      <p:sp>
        <p:nvSpPr>
          <p:cNvPr id="211" name="Google Shape;211;p7"/>
          <p:cNvSpPr/>
          <p:nvPr/>
        </p:nvSpPr>
        <p:spPr>
          <a:xfrm>
            <a:off x="326237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2</a:t>
            </a:r>
            <a:endParaRPr b="0" i="0" sz="2200" u="none" cap="none" strike="noStrike">
              <a:solidFill>
                <a:srgbClr val="FFFFFF"/>
              </a:solidFill>
              <a:latin typeface="Arial"/>
              <a:ea typeface="Arial"/>
              <a:cs typeface="Arial"/>
              <a:sym typeface="Arial"/>
            </a:endParaRPr>
          </a:p>
        </p:txBody>
      </p:sp>
      <p:sp>
        <p:nvSpPr>
          <p:cNvPr id="212" name="Google Shape;212;p7"/>
          <p:cNvSpPr/>
          <p:nvPr/>
        </p:nvSpPr>
        <p:spPr>
          <a:xfrm>
            <a:off x="540362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3</a:t>
            </a:r>
            <a:endParaRPr b="0" i="0" sz="2200" u="none" cap="none" strike="noStrike">
              <a:solidFill>
                <a:srgbClr val="FFFFFF"/>
              </a:solidFill>
              <a:latin typeface="Arial"/>
              <a:ea typeface="Arial"/>
              <a:cs typeface="Arial"/>
              <a:sym typeface="Arial"/>
            </a:endParaRPr>
          </a:p>
        </p:txBody>
      </p:sp>
      <p:sp>
        <p:nvSpPr>
          <p:cNvPr id="213" name="Google Shape;213;p7"/>
          <p:cNvSpPr/>
          <p:nvPr/>
        </p:nvSpPr>
        <p:spPr>
          <a:xfrm>
            <a:off x="754487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4</a:t>
            </a:r>
            <a:endParaRPr b="0" i="0" sz="2200" u="none" cap="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8"/>
          <p:cNvSpPr/>
          <p:nvPr/>
        </p:nvSpPr>
        <p:spPr>
          <a:xfrm>
            <a:off x="451525" y="461325"/>
            <a:ext cx="2758200" cy="2758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8"/>
          <p:cNvSpPr txBox="1"/>
          <p:nvPr/>
        </p:nvSpPr>
        <p:spPr>
          <a:xfrm>
            <a:off x="451450" y="3219525"/>
            <a:ext cx="2758200" cy="471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 sz="1900" u="none" cap="none" strike="noStrike">
                <a:solidFill>
                  <a:srgbClr val="1967D2"/>
                </a:solidFill>
                <a:latin typeface="Open Sans"/>
                <a:ea typeface="Open Sans"/>
                <a:cs typeface="Open Sans"/>
                <a:sym typeface="Open Sans"/>
              </a:rPr>
              <a:t>Tim</a:t>
            </a:r>
            <a:endParaRPr b="1" i="0" sz="1800" u="none" cap="none" strike="noStrike">
              <a:solidFill>
                <a:srgbClr val="1967D2"/>
              </a:solidFill>
              <a:latin typeface="Open Sans"/>
              <a:ea typeface="Open Sans"/>
              <a:cs typeface="Open Sans"/>
              <a:sym typeface="Open Sans"/>
            </a:endParaRPr>
          </a:p>
        </p:txBody>
      </p:sp>
      <p:sp>
        <p:nvSpPr>
          <p:cNvPr id="220" name="Google Shape;220;p8"/>
          <p:cNvSpPr txBox="1"/>
          <p:nvPr/>
        </p:nvSpPr>
        <p:spPr>
          <a:xfrm>
            <a:off x="323950" y="3614500"/>
            <a:ext cx="1501800" cy="1217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Age: </a:t>
            </a:r>
            <a:endParaRPr b="1" i="0" sz="1400" u="none" cap="none" strike="noStrike">
              <a:solidFill>
                <a:schemeClr val="dk2"/>
              </a:solidFill>
              <a:latin typeface="Open Sans"/>
              <a:ea typeface="Open Sans"/>
              <a:cs typeface="Open Sans"/>
              <a:sym typeface="Open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Education: </a:t>
            </a:r>
            <a:endParaRPr b="1" i="0" sz="1400" u="none" cap="none" strike="noStrike">
              <a:solidFill>
                <a:schemeClr val="dk2"/>
              </a:solidFill>
              <a:latin typeface="Open Sans"/>
              <a:ea typeface="Open Sans"/>
              <a:cs typeface="Open Sans"/>
              <a:sym typeface="Open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Hometown: </a:t>
            </a:r>
            <a:endParaRPr b="1" i="0" sz="1400" u="none" cap="none" strike="noStrike">
              <a:solidFill>
                <a:schemeClr val="dk2"/>
              </a:solidFill>
              <a:latin typeface="Open Sans"/>
              <a:ea typeface="Open Sans"/>
              <a:cs typeface="Open Sans"/>
              <a:sym typeface="Open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Family: </a:t>
            </a:r>
            <a:endParaRPr b="1" i="0" sz="1400" u="none" cap="none" strike="noStrike">
              <a:solidFill>
                <a:schemeClr val="dk2"/>
              </a:solidFill>
              <a:latin typeface="Open Sans"/>
              <a:ea typeface="Open Sans"/>
              <a:cs typeface="Open Sans"/>
              <a:sym typeface="Open Sans"/>
            </a:endParaRPr>
          </a:p>
          <a:p>
            <a:pPr indent="0" lvl="0" marL="0" marR="0" rtl="0" algn="r">
              <a:lnSpc>
                <a:spcPct val="10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Occupation:</a:t>
            </a:r>
            <a:endParaRPr b="1" i="0" sz="1400" u="none" cap="none" strike="noStrike">
              <a:solidFill>
                <a:schemeClr val="dk2"/>
              </a:solidFill>
              <a:latin typeface="Open Sans"/>
              <a:ea typeface="Open Sans"/>
              <a:cs typeface="Open Sans"/>
              <a:sym typeface="Open Sans"/>
            </a:endParaRPr>
          </a:p>
          <a:p>
            <a:pPr indent="0" lvl="0" marL="0" marR="0" rtl="0" algn="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21" name="Google Shape;221;p8"/>
          <p:cNvSpPr txBox="1"/>
          <p:nvPr/>
        </p:nvSpPr>
        <p:spPr>
          <a:xfrm>
            <a:off x="1742725" y="3614500"/>
            <a:ext cx="1817400" cy="121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30	             B.A. Science  Portland, OR     Single </a:t>
            </a:r>
            <a:endParaRPr>
              <a:solidFill>
                <a:schemeClr val="dk2"/>
              </a:solidFil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Open Sans"/>
                <a:ea typeface="Open Sans"/>
                <a:cs typeface="Open Sans"/>
                <a:sym typeface="Open Sans"/>
              </a:rPr>
              <a:t>Instructor</a:t>
            </a:r>
            <a:r>
              <a:rPr b="0" i="0" lang="en" sz="1400" u="none" cap="none" strike="noStrike">
                <a:solidFill>
                  <a:schemeClr val="dk2"/>
                </a:solidFill>
                <a:latin typeface="Arial"/>
                <a:ea typeface="Arial"/>
                <a:cs typeface="Arial"/>
                <a:sym typeface="Arial"/>
              </a:rPr>
              <a:t>	</a:t>
            </a:r>
            <a:endParaRPr b="0" i="0" sz="1400" u="none" cap="none" strike="noStrike">
              <a:solidFill>
                <a:schemeClr val="dk2"/>
              </a:solidFill>
              <a:latin typeface="Arial"/>
              <a:ea typeface="Arial"/>
              <a:cs typeface="Arial"/>
              <a:sym typeface="Arial"/>
            </a:endParaRPr>
          </a:p>
        </p:txBody>
      </p:sp>
      <p:sp>
        <p:nvSpPr>
          <p:cNvPr id="222" name="Google Shape;222;p8"/>
          <p:cNvSpPr txBox="1"/>
          <p:nvPr/>
        </p:nvSpPr>
        <p:spPr>
          <a:xfrm>
            <a:off x="3651375" y="461325"/>
            <a:ext cx="5035800" cy="90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Open Sans"/>
                <a:ea typeface="Open Sans"/>
                <a:cs typeface="Open Sans"/>
                <a:sym typeface="Open Sans"/>
              </a:rPr>
              <a:t>“</a:t>
            </a:r>
            <a:r>
              <a:rPr b="1" i="1" lang="en" sz="1800" u="none" cap="none" strike="noStrike">
                <a:solidFill>
                  <a:srgbClr val="EF8600"/>
                </a:solidFill>
                <a:latin typeface="Open Sans"/>
                <a:ea typeface="Open Sans"/>
                <a:cs typeface="Open Sans"/>
                <a:sym typeface="Open Sans"/>
              </a:rPr>
              <a:t>You can be safe and still enjoy any sports activity</a:t>
            </a:r>
            <a:r>
              <a:rPr b="0" i="1" lang="en" sz="1800" u="none" cap="none" strike="noStrike">
                <a:solidFill>
                  <a:srgbClr val="000000"/>
                </a:solidFill>
                <a:latin typeface="Arial"/>
                <a:ea typeface="Arial"/>
                <a:cs typeface="Arial"/>
                <a:sym typeface="Arial"/>
              </a:rPr>
              <a:t>” </a:t>
            </a:r>
            <a:endParaRPr b="0" i="1" sz="1800" u="none" cap="none" strike="noStrike">
              <a:solidFill>
                <a:srgbClr val="000000"/>
              </a:solidFill>
              <a:latin typeface="Arial"/>
              <a:ea typeface="Arial"/>
              <a:cs typeface="Arial"/>
              <a:sym typeface="Arial"/>
            </a:endParaRPr>
          </a:p>
        </p:txBody>
      </p:sp>
      <p:sp>
        <p:nvSpPr>
          <p:cNvPr id="223" name="Google Shape;223;p8"/>
          <p:cNvSpPr txBox="1"/>
          <p:nvPr/>
        </p:nvSpPr>
        <p:spPr>
          <a:xfrm>
            <a:off x="3651375" y="1492000"/>
            <a:ext cx="2522700" cy="1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196702"/>
                </a:solidFill>
                <a:latin typeface="Open Sans"/>
                <a:ea typeface="Open Sans"/>
                <a:cs typeface="Open Sans"/>
                <a:sym typeface="Open Sans"/>
              </a:rPr>
              <a:t>Goals</a:t>
            </a:r>
            <a:r>
              <a:rPr b="0" i="0" lang="en" sz="1800" u="none" cap="none" strike="noStrike">
                <a:solidFill>
                  <a:srgbClr val="000000"/>
                </a:solidFill>
                <a:latin typeface="Open Sans"/>
                <a:ea typeface="Open Sans"/>
                <a:cs typeface="Open Sans"/>
                <a:sym typeface="Open Sans"/>
              </a:rPr>
              <a:t> </a:t>
            </a:r>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Open Sans"/>
                <a:ea typeface="Open Sans"/>
                <a:cs typeface="Open Sans"/>
                <a:sym typeface="Open Sans"/>
              </a:rPr>
              <a:t>Maintaining a high standard of safety and fun in all my classes</a:t>
            </a:r>
            <a:endParaRPr>
              <a:solidFill>
                <a:schemeClr val="dk2"/>
              </a:solidFil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Open Sans"/>
                <a:ea typeface="Open Sans"/>
                <a:cs typeface="Open Sans"/>
                <a:sym typeface="Open Sans"/>
              </a:rPr>
              <a:t>Educating all participates in proper gaming </a:t>
            </a:r>
            <a:endParaRPr>
              <a:solidFill>
                <a:schemeClr val="dk2"/>
              </a:solidFil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Open Sans"/>
                <a:ea typeface="Open Sans"/>
                <a:cs typeface="Open Sans"/>
                <a:sym typeface="Open Sans"/>
              </a:rPr>
              <a:t>Introducing little ones to new sports.   </a:t>
            </a:r>
            <a:endParaRPr>
              <a:solidFill>
                <a:schemeClr val="dk2"/>
              </a:solidFill>
            </a:endParaRPr>
          </a:p>
        </p:txBody>
      </p:sp>
      <p:sp>
        <p:nvSpPr>
          <p:cNvPr id="224" name="Google Shape;224;p8"/>
          <p:cNvSpPr txBox="1"/>
          <p:nvPr/>
        </p:nvSpPr>
        <p:spPr>
          <a:xfrm>
            <a:off x="6326475" y="1492000"/>
            <a:ext cx="2522700" cy="1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900" u="none" cap="none" strike="noStrike">
                <a:solidFill>
                  <a:srgbClr val="C5221F"/>
                </a:solidFill>
                <a:latin typeface="Open Sans"/>
                <a:ea typeface="Open Sans"/>
                <a:cs typeface="Open Sans"/>
                <a:sym typeface="Open Sans"/>
              </a:rPr>
              <a:t>Frustrations</a:t>
            </a:r>
            <a:r>
              <a:rPr b="1" i="0" lang="en" sz="1800" u="none" cap="none" strike="noStrike">
                <a:solidFill>
                  <a:schemeClr val="dk1"/>
                </a:solidFill>
                <a:latin typeface="Open Sans"/>
                <a:ea typeface="Open Sans"/>
                <a:cs typeface="Open Sans"/>
                <a:sym typeface="Open Sans"/>
              </a:rPr>
              <a:t> </a:t>
            </a:r>
            <a:endParaRPr b="1" i="0" sz="1800" u="none" cap="none" strike="noStrike">
              <a:solidFill>
                <a:schemeClr val="dk1"/>
              </a:solidFill>
              <a:latin typeface="Open Sans"/>
              <a:ea typeface="Open Sans"/>
              <a:cs typeface="Open Sans"/>
              <a:sym typeface="Open Sans"/>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Open Sans"/>
                <a:ea typeface="Open Sans"/>
                <a:cs typeface="Open Sans"/>
                <a:sym typeface="Open Sans"/>
              </a:rPr>
              <a:t>The lack of new  </a:t>
            </a:r>
            <a:r>
              <a:rPr lang="en">
                <a:solidFill>
                  <a:schemeClr val="dk2"/>
                </a:solidFill>
                <a:latin typeface="Open Sans"/>
                <a:ea typeface="Open Sans"/>
                <a:cs typeface="Open Sans"/>
                <a:sym typeface="Open Sans"/>
              </a:rPr>
              <a:t>equipment</a:t>
            </a:r>
            <a:r>
              <a:rPr b="0" i="0" lang="en" sz="1400" u="none" cap="none" strike="noStrike">
                <a:solidFill>
                  <a:schemeClr val="dk2"/>
                </a:solidFill>
                <a:latin typeface="Open Sans"/>
                <a:ea typeface="Open Sans"/>
                <a:cs typeface="Open Sans"/>
                <a:sym typeface="Open Sans"/>
              </a:rPr>
              <a:t> </a:t>
            </a:r>
            <a:endParaRPr>
              <a:solidFill>
                <a:schemeClr val="dk2"/>
              </a:solidFil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Open Sans"/>
                <a:ea typeface="Open Sans"/>
                <a:cs typeface="Open Sans"/>
                <a:sym typeface="Open Sans"/>
              </a:rPr>
              <a:t>Play area not safe enough for people of all ages</a:t>
            </a:r>
            <a:endParaRPr>
              <a:solidFill>
                <a:schemeClr val="dk2"/>
              </a:solidFil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Open Sans"/>
                <a:ea typeface="Open Sans"/>
                <a:cs typeface="Open Sans"/>
                <a:sym typeface="Open Sans"/>
              </a:rPr>
              <a:t>Having </a:t>
            </a:r>
            <a:r>
              <a:rPr lang="en">
                <a:solidFill>
                  <a:schemeClr val="dk2"/>
                </a:solidFill>
                <a:latin typeface="Open Sans"/>
                <a:ea typeface="Open Sans"/>
                <a:cs typeface="Open Sans"/>
                <a:sym typeface="Open Sans"/>
              </a:rPr>
              <a:t>consistent</a:t>
            </a:r>
            <a:r>
              <a:rPr b="0" i="0" lang="en" sz="1400" u="none" cap="none" strike="noStrike">
                <a:solidFill>
                  <a:schemeClr val="dk2"/>
                </a:solidFill>
                <a:latin typeface="Open Sans"/>
                <a:ea typeface="Open Sans"/>
                <a:cs typeface="Open Sans"/>
                <a:sym typeface="Open Sans"/>
              </a:rPr>
              <a:t> </a:t>
            </a:r>
            <a:r>
              <a:rPr lang="en">
                <a:solidFill>
                  <a:schemeClr val="dk2"/>
                </a:solidFill>
                <a:latin typeface="Open Sans"/>
                <a:ea typeface="Open Sans"/>
                <a:cs typeface="Open Sans"/>
                <a:sym typeface="Open Sans"/>
              </a:rPr>
              <a:t>maintenance</a:t>
            </a:r>
            <a:r>
              <a:rPr b="0" i="0" lang="en" sz="1400" u="none" cap="none" strike="noStrike">
                <a:solidFill>
                  <a:schemeClr val="dk2"/>
                </a:solidFill>
                <a:latin typeface="Open Sans"/>
                <a:ea typeface="Open Sans"/>
                <a:cs typeface="Open Sans"/>
                <a:sym typeface="Open Sans"/>
              </a:rPr>
              <a:t> </a:t>
            </a:r>
            <a:endParaRPr b="0" i="0" sz="14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25" name="Google Shape;225;p8"/>
          <p:cNvSpPr txBox="1"/>
          <p:nvPr/>
        </p:nvSpPr>
        <p:spPr>
          <a:xfrm>
            <a:off x="3651375" y="3690525"/>
            <a:ext cx="5197800" cy="1417200"/>
          </a:xfrm>
          <a:prstGeom prst="rect">
            <a:avLst/>
          </a:prstGeom>
          <a:noFill/>
          <a:ln cap="flat" cmpd="sng" w="28575">
            <a:solidFill>
              <a:srgbClr val="FFD9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Tim</a:t>
            </a:r>
            <a:r>
              <a:rPr b="0" i="0" lang="en" sz="1400" u="none" cap="none" strike="noStrike">
                <a:solidFill>
                  <a:schemeClr val="dk2"/>
                </a:solidFill>
                <a:latin typeface="Open Sans"/>
                <a:ea typeface="Open Sans"/>
                <a:cs typeface="Open Sans"/>
                <a:sym typeface="Open Sans"/>
              </a:rPr>
              <a:t> is a instructor for one of the community centers in portland. They teach a large variety of classes ranging from ages 1-8.Timmi wishes that the conditions of the gym floor would be in better shape. Because, He had an adult slip during his class because of the poor </a:t>
            </a:r>
            <a:r>
              <a:rPr lang="en">
                <a:solidFill>
                  <a:schemeClr val="dk2"/>
                </a:solidFill>
                <a:latin typeface="Open Sans"/>
                <a:ea typeface="Open Sans"/>
                <a:cs typeface="Open Sans"/>
                <a:sym typeface="Open Sans"/>
              </a:rPr>
              <a:t>maintenance</a:t>
            </a:r>
            <a:r>
              <a:rPr b="0" i="0" lang="en" sz="1400" u="none" cap="none" strike="noStrike">
                <a:solidFill>
                  <a:schemeClr val="dk2"/>
                </a:solidFill>
                <a:latin typeface="Open Sans"/>
                <a:ea typeface="Open Sans"/>
                <a:cs typeface="Open Sans"/>
                <a:sym typeface="Open Sans"/>
              </a:rPr>
              <a:t> of the floor.</a:t>
            </a:r>
            <a:endParaRPr b="0" i="0" sz="1400" u="none" cap="none" strike="noStrike">
              <a:solidFill>
                <a:schemeClr val="dk2"/>
              </a:solidFill>
              <a:latin typeface="Open Sans"/>
              <a:ea typeface="Open Sans"/>
              <a:cs typeface="Open Sans"/>
              <a:sym typeface="Open Sans"/>
            </a:endParaRPr>
          </a:p>
        </p:txBody>
      </p:sp>
      <p:sp>
        <p:nvSpPr>
          <p:cNvPr id="226" name="Google Shape;226;p8"/>
          <p:cNvSpPr txBox="1"/>
          <p:nvPr/>
        </p:nvSpPr>
        <p:spPr>
          <a:xfrm>
            <a:off x="985225" y="1442025"/>
            <a:ext cx="1666200" cy="796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1" lang="en" sz="1500" u="none" cap="none" strike="noStrike">
                <a:solidFill>
                  <a:srgbClr val="000000"/>
                </a:solidFill>
                <a:latin typeface="Arial"/>
                <a:ea typeface="Arial"/>
                <a:cs typeface="Arial"/>
                <a:sym typeface="Arial"/>
              </a:rPr>
              <a:t>Add image that represents this persona</a:t>
            </a:r>
            <a:endParaRPr b="0" i="0" sz="1100" u="none" cap="none" strike="noStrike">
              <a:solidFill>
                <a:srgbClr val="000000"/>
              </a:solidFill>
              <a:latin typeface="Arial"/>
              <a:ea typeface="Arial"/>
              <a:cs typeface="Arial"/>
              <a:sym typeface="Arial"/>
            </a:endParaRPr>
          </a:p>
        </p:txBody>
      </p:sp>
      <p:pic>
        <p:nvPicPr>
          <p:cNvPr descr="A cartoon of a person&#10;&#10;Description automatically generated with low confidence" id="227" name="Google Shape;227;p8"/>
          <p:cNvPicPr preferRelativeResize="0"/>
          <p:nvPr/>
        </p:nvPicPr>
        <p:blipFill rotWithShape="1">
          <a:blip r:embed="rId3">
            <a:alphaModFix/>
          </a:blip>
          <a:srcRect b="0" l="0" r="0" t="0"/>
          <a:stretch/>
        </p:blipFill>
        <p:spPr>
          <a:xfrm>
            <a:off x="542628" y="511344"/>
            <a:ext cx="2667022" cy="266664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9"/>
          <p:cNvSpPr txBox="1"/>
          <p:nvPr/>
        </p:nvSpPr>
        <p:spPr>
          <a:xfrm>
            <a:off x="517675" y="524350"/>
            <a:ext cx="61086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User journey map</a:t>
            </a:r>
            <a:endParaRPr b="0" i="0" sz="2400" u="none" cap="none" strike="noStrike">
              <a:solidFill>
                <a:srgbClr val="5F6368"/>
              </a:solidFill>
              <a:latin typeface="Open Sans"/>
              <a:ea typeface="Open Sans"/>
              <a:cs typeface="Open Sans"/>
              <a:sym typeface="Open Sans"/>
            </a:endParaRPr>
          </a:p>
        </p:txBody>
      </p:sp>
      <p:sp>
        <p:nvSpPr>
          <p:cNvPr id="233" name="Google Shape;233;p9"/>
          <p:cNvSpPr/>
          <p:nvPr/>
        </p:nvSpPr>
        <p:spPr>
          <a:xfrm>
            <a:off x="4212000" y="0"/>
            <a:ext cx="493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9"/>
          <p:cNvSpPr txBox="1"/>
          <p:nvPr/>
        </p:nvSpPr>
        <p:spPr>
          <a:xfrm>
            <a:off x="517675" y="1522550"/>
            <a:ext cx="2421300" cy="3093124"/>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Mapping Tim’s user journey revealed it would be helpful to add a favorite button and Increase font size; Adding a speak to read option is important. Want to allow the user to be able to mold their experience to fit their needs.</a:t>
            </a:r>
            <a:endParaRPr b="0" i="0" sz="1400" u="none" cap="none" strike="noStrike">
              <a:solidFill>
                <a:srgbClr val="000000"/>
              </a:solidFill>
              <a:latin typeface="Arial"/>
              <a:ea typeface="Arial"/>
              <a:cs typeface="Arial"/>
              <a:sym typeface="Arial"/>
            </a:endParaRPr>
          </a:p>
        </p:txBody>
      </p:sp>
      <p:pic>
        <p:nvPicPr>
          <p:cNvPr id="235" name="Google Shape;235;p9"/>
          <p:cNvPicPr preferRelativeResize="0"/>
          <p:nvPr/>
        </p:nvPicPr>
        <p:blipFill rotWithShape="1">
          <a:blip r:embed="rId3">
            <a:alphaModFix/>
          </a:blip>
          <a:srcRect b="0" l="0" r="0" t="0"/>
          <a:stretch/>
        </p:blipFill>
        <p:spPr>
          <a:xfrm>
            <a:off x="4343795" y="1195908"/>
            <a:ext cx="4668410" cy="33441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9900"/>
        </a:solidFill>
      </p:bgPr>
    </p:bg>
    <p:spTree>
      <p:nvGrpSpPr>
        <p:cNvPr id="239" name="Shape 239"/>
        <p:cNvGrpSpPr/>
        <p:nvPr/>
      </p:nvGrpSpPr>
      <p:grpSpPr>
        <a:xfrm>
          <a:off x="0" y="0"/>
          <a:ext cx="0" cy="0"/>
          <a:chOff x="0" y="0"/>
          <a:chExt cx="0" cy="0"/>
        </a:xfrm>
      </p:grpSpPr>
      <p:sp>
        <p:nvSpPr>
          <p:cNvPr id="240" name="Google Shape;240;p10"/>
          <p:cNvSpPr txBox="1"/>
          <p:nvPr/>
        </p:nvSpPr>
        <p:spPr>
          <a:xfrm>
            <a:off x="3721275" y="1886850"/>
            <a:ext cx="6302100" cy="1369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Paper wireframes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Digital wireframes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Low-fidelity prototype</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Usability studies</a:t>
            </a:r>
            <a:endParaRPr b="0" i="0" sz="1400" u="none" cap="none" strike="noStrike">
              <a:solidFill>
                <a:srgbClr val="FFFFFF"/>
              </a:solidFill>
              <a:latin typeface="Open Sans"/>
              <a:ea typeface="Open Sans"/>
              <a:cs typeface="Open Sans"/>
              <a:sym typeface="Open Sans"/>
            </a:endParaRPr>
          </a:p>
        </p:txBody>
      </p:sp>
      <p:sp>
        <p:nvSpPr>
          <p:cNvPr id="241" name="Google Shape;241;p10"/>
          <p:cNvSpPr txBox="1"/>
          <p:nvPr/>
        </p:nvSpPr>
        <p:spPr>
          <a:xfrm>
            <a:off x="-468875" y="2082300"/>
            <a:ext cx="3704400" cy="978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chemeClr val="dk1"/>
              </a:buClr>
              <a:buSzPts val="1100"/>
              <a:buFont typeface="Arial"/>
              <a:buNone/>
            </a:pPr>
            <a:r>
              <a:rPr b="0" i="0" lang="en" sz="2400" u="none" cap="none" strike="noStrike">
                <a:solidFill>
                  <a:srgbClr val="FFFFFF"/>
                </a:solidFill>
                <a:latin typeface="Open Sans"/>
                <a:ea typeface="Open Sans"/>
                <a:cs typeface="Open Sans"/>
                <a:sym typeface="Open Sans"/>
              </a:rPr>
              <a:t>Starting</a:t>
            </a:r>
            <a:endParaRPr b="0" i="0" sz="2400" u="none" cap="none" strike="noStrike">
              <a:solidFill>
                <a:srgbClr val="FFFFFF"/>
              </a:solidFill>
              <a:latin typeface="Open Sans"/>
              <a:ea typeface="Open Sans"/>
              <a:cs typeface="Open Sans"/>
              <a:sym typeface="Open Sans"/>
            </a:endParaRPr>
          </a:p>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the design</a:t>
            </a:r>
            <a:endParaRPr b="0" i="0" sz="2400" u="none" cap="none" strike="noStrike">
              <a:solidFill>
                <a:srgbClr val="FFFFFF"/>
              </a:solidFill>
              <a:latin typeface="Open Sans"/>
              <a:ea typeface="Open Sans"/>
              <a:cs typeface="Open Sans"/>
              <a:sym typeface="Open Sans"/>
            </a:endParaRPr>
          </a:p>
        </p:txBody>
      </p:sp>
      <p:cxnSp>
        <p:nvCxnSpPr>
          <p:cNvPr id="242" name="Google Shape;242;p10"/>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1"/>
          <p:cNvSpPr/>
          <p:nvPr/>
        </p:nvSpPr>
        <p:spPr>
          <a:xfrm>
            <a:off x="4211875" y="0"/>
            <a:ext cx="493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1"/>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Paper wireframes </a:t>
            </a:r>
            <a:endParaRPr b="0" i="0" sz="2400" u="none" cap="none" strike="noStrike">
              <a:solidFill>
                <a:srgbClr val="5F6368"/>
              </a:solidFill>
              <a:latin typeface="Open Sans"/>
              <a:ea typeface="Open Sans"/>
              <a:cs typeface="Open Sans"/>
              <a:sym typeface="Open Sans"/>
            </a:endParaRPr>
          </a:p>
        </p:txBody>
      </p:sp>
      <p:sp>
        <p:nvSpPr>
          <p:cNvPr id="249" name="Google Shape;249;p11"/>
          <p:cNvSpPr txBox="1"/>
          <p:nvPr/>
        </p:nvSpPr>
        <p:spPr>
          <a:xfrm>
            <a:off x="517675" y="1511470"/>
            <a:ext cx="2421300" cy="2769959"/>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Drafted screens of the app on paper, while keeping in mind the pain points that were discovered. For the home screen, I drafted different styles prioritize a quick browsering and ordering process.</a:t>
            </a:r>
            <a:endParaRPr b="0" i="0" sz="1400" u="none" cap="none" strike="noStrike">
              <a:solidFill>
                <a:srgbClr val="000000"/>
              </a:solidFill>
              <a:latin typeface="Arial"/>
              <a:ea typeface="Arial"/>
              <a:cs typeface="Arial"/>
              <a:sym typeface="Arial"/>
            </a:endParaRPr>
          </a:p>
        </p:txBody>
      </p:sp>
      <p:pic>
        <p:nvPicPr>
          <p:cNvPr id="250" name="Google Shape;250;p11"/>
          <p:cNvPicPr preferRelativeResize="0"/>
          <p:nvPr/>
        </p:nvPicPr>
        <p:blipFill rotWithShape="1">
          <a:blip r:embed="rId3">
            <a:alphaModFix/>
          </a:blip>
          <a:srcRect b="0" l="0" r="0" t="0"/>
          <a:stretch/>
        </p:blipFill>
        <p:spPr>
          <a:xfrm>
            <a:off x="4286742" y="437142"/>
            <a:ext cx="4782265" cy="41820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Digital wireframes </a:t>
            </a:r>
            <a:endParaRPr b="0" i="0" sz="2400" u="none" cap="none" strike="noStrike">
              <a:solidFill>
                <a:srgbClr val="5F6368"/>
              </a:solidFill>
              <a:latin typeface="Open Sans"/>
              <a:ea typeface="Open Sans"/>
              <a:cs typeface="Open Sans"/>
              <a:sym typeface="Open Sans"/>
            </a:endParaRPr>
          </a:p>
        </p:txBody>
      </p:sp>
      <p:sp>
        <p:nvSpPr>
          <p:cNvPr id="256" name="Google Shape;256;p12"/>
          <p:cNvSpPr txBox="1"/>
          <p:nvPr/>
        </p:nvSpPr>
        <p:spPr>
          <a:xfrm>
            <a:off x="517675" y="1522550"/>
            <a:ext cx="2421300" cy="1477297"/>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Focusing on making it as clean looking as possible, while keeping the user research feedback in mind.</a:t>
            </a:r>
            <a:endParaRPr b="0" i="0" sz="1400" u="none" cap="none" strike="noStrike">
              <a:solidFill>
                <a:srgbClr val="000000"/>
              </a:solidFill>
              <a:latin typeface="Arial"/>
              <a:ea typeface="Arial"/>
              <a:cs typeface="Arial"/>
              <a:sym typeface="Arial"/>
            </a:endParaRPr>
          </a:p>
        </p:txBody>
      </p:sp>
      <p:sp>
        <p:nvSpPr>
          <p:cNvPr id="257" name="Google Shape;257;p12"/>
          <p:cNvSpPr/>
          <p:nvPr/>
        </p:nvSpPr>
        <p:spPr>
          <a:xfrm>
            <a:off x="5092825" y="984600"/>
            <a:ext cx="2421300" cy="3958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8" name="Google Shape;258;p12"/>
          <p:cNvCxnSpPr/>
          <p:nvPr/>
        </p:nvCxnSpPr>
        <p:spPr>
          <a:xfrm>
            <a:off x="4565525" y="1608925"/>
            <a:ext cx="918900" cy="0"/>
          </a:xfrm>
          <a:prstGeom prst="straightConnector1">
            <a:avLst/>
          </a:prstGeom>
          <a:noFill/>
          <a:ln cap="flat" cmpd="sng" w="19050">
            <a:solidFill>
              <a:srgbClr val="FBBC04"/>
            </a:solidFill>
            <a:prstDash val="solid"/>
            <a:round/>
            <a:headEnd len="sm" w="sm" type="none"/>
            <a:tailEnd len="med" w="med" type="triangle"/>
          </a:ln>
        </p:spPr>
      </p:cxnSp>
      <p:sp>
        <p:nvSpPr>
          <p:cNvPr id="259" name="Google Shape;259;p12"/>
          <p:cNvSpPr txBox="1"/>
          <p:nvPr/>
        </p:nvSpPr>
        <p:spPr>
          <a:xfrm>
            <a:off x="3506850" y="1208725"/>
            <a:ext cx="1100400" cy="172351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The customer has the option to either search or naviagte thru the app without having to go thru many different screens</a:t>
            </a:r>
            <a:endParaRPr b="0" i="0" sz="1000" u="none" cap="none" strike="noStrike">
              <a:solidFill>
                <a:srgbClr val="5F6368"/>
              </a:solidFill>
              <a:latin typeface="Open Sans"/>
              <a:ea typeface="Open Sans"/>
              <a:cs typeface="Open Sans"/>
              <a:sym typeface="Open Sans"/>
            </a:endParaRPr>
          </a:p>
        </p:txBody>
      </p:sp>
      <p:cxnSp>
        <p:nvCxnSpPr>
          <p:cNvPr id="260" name="Google Shape;260;p12"/>
          <p:cNvCxnSpPr/>
          <p:nvPr/>
        </p:nvCxnSpPr>
        <p:spPr>
          <a:xfrm rot="10800000">
            <a:off x="7096000" y="2920200"/>
            <a:ext cx="918000" cy="0"/>
          </a:xfrm>
          <a:prstGeom prst="straightConnector1">
            <a:avLst/>
          </a:prstGeom>
          <a:noFill/>
          <a:ln cap="flat" cmpd="sng" w="19050">
            <a:solidFill>
              <a:srgbClr val="FBBC04"/>
            </a:solidFill>
            <a:prstDash val="solid"/>
            <a:round/>
            <a:headEnd len="sm" w="sm" type="none"/>
            <a:tailEnd len="med" w="med" type="triangle"/>
          </a:ln>
        </p:spPr>
      </p:cxnSp>
      <p:sp>
        <p:nvSpPr>
          <p:cNvPr id="261" name="Google Shape;261;p12"/>
          <p:cNvSpPr txBox="1"/>
          <p:nvPr/>
        </p:nvSpPr>
        <p:spPr>
          <a:xfrm>
            <a:off x="8030375" y="2520000"/>
            <a:ext cx="1100400" cy="110796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Added a short cut to favorite classes so that it can expedite checking out processes</a:t>
            </a:r>
            <a:endParaRPr b="0" i="0" sz="1000" u="none" cap="none" strike="noStrike">
              <a:solidFill>
                <a:srgbClr val="5F6368"/>
              </a:solidFill>
              <a:latin typeface="Open Sans"/>
              <a:ea typeface="Open Sans"/>
              <a:cs typeface="Open Sans"/>
              <a:sym typeface="Open Sans"/>
            </a:endParaRPr>
          </a:p>
        </p:txBody>
      </p:sp>
      <p:pic>
        <p:nvPicPr>
          <p:cNvPr id="262" name="Google Shape;262;p12"/>
          <p:cNvPicPr preferRelativeResize="0"/>
          <p:nvPr/>
        </p:nvPicPr>
        <p:blipFill rotWithShape="1">
          <a:blip r:embed="rId3">
            <a:alphaModFix/>
          </a:blip>
          <a:srcRect b="0" l="0" r="0" t="0"/>
          <a:stretch/>
        </p:blipFill>
        <p:spPr>
          <a:xfrm>
            <a:off x="5361276" y="1078450"/>
            <a:ext cx="1884397" cy="36710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3"/>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Digital wireframes </a:t>
            </a:r>
            <a:endParaRPr b="0" i="0" sz="2400" u="none" cap="none" strike="noStrike">
              <a:solidFill>
                <a:srgbClr val="5F6368"/>
              </a:solidFill>
              <a:latin typeface="Open Sans"/>
              <a:ea typeface="Open Sans"/>
              <a:cs typeface="Open Sans"/>
              <a:sym typeface="Open Sans"/>
            </a:endParaRPr>
          </a:p>
        </p:txBody>
      </p:sp>
      <p:sp>
        <p:nvSpPr>
          <p:cNvPr id="268" name="Google Shape;268;p13"/>
          <p:cNvSpPr txBox="1"/>
          <p:nvPr/>
        </p:nvSpPr>
        <p:spPr>
          <a:xfrm>
            <a:off x="517675" y="1522550"/>
            <a:ext cx="2421300" cy="1800463"/>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 Focused on making it as inclusive as possible epecially for indivuals that have a difficult time seeing the letters on their screens. </a:t>
            </a:r>
            <a:endParaRPr b="0" i="0" sz="1400" u="none" cap="none" strike="noStrike">
              <a:solidFill>
                <a:srgbClr val="000000"/>
              </a:solidFill>
              <a:latin typeface="Arial"/>
              <a:ea typeface="Arial"/>
              <a:cs typeface="Arial"/>
              <a:sym typeface="Arial"/>
            </a:endParaRPr>
          </a:p>
        </p:txBody>
      </p:sp>
      <p:sp>
        <p:nvSpPr>
          <p:cNvPr id="269" name="Google Shape;269;p13"/>
          <p:cNvSpPr/>
          <p:nvPr/>
        </p:nvSpPr>
        <p:spPr>
          <a:xfrm>
            <a:off x="5092825" y="984600"/>
            <a:ext cx="2421300" cy="3958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0" name="Google Shape;270;p13"/>
          <p:cNvCxnSpPr/>
          <p:nvPr/>
        </p:nvCxnSpPr>
        <p:spPr>
          <a:xfrm>
            <a:off x="4607250" y="2132800"/>
            <a:ext cx="918900" cy="0"/>
          </a:xfrm>
          <a:prstGeom prst="straightConnector1">
            <a:avLst/>
          </a:prstGeom>
          <a:noFill/>
          <a:ln cap="flat" cmpd="sng" w="19050">
            <a:solidFill>
              <a:srgbClr val="FBBC04"/>
            </a:solidFill>
            <a:prstDash val="solid"/>
            <a:round/>
            <a:headEnd len="sm" w="sm" type="none"/>
            <a:tailEnd len="med" w="med" type="triangle"/>
          </a:ln>
        </p:spPr>
      </p:cxnSp>
      <p:sp>
        <p:nvSpPr>
          <p:cNvPr id="271" name="Google Shape;271;p13"/>
          <p:cNvSpPr txBox="1"/>
          <p:nvPr/>
        </p:nvSpPr>
        <p:spPr>
          <a:xfrm>
            <a:off x="3533425" y="1751350"/>
            <a:ext cx="1100400" cy="126185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Added the options to either zoom in or have the app read the classes descriptions </a:t>
            </a:r>
            <a:endParaRPr b="0" i="0" sz="1000" u="none" cap="none" strike="noStrike">
              <a:solidFill>
                <a:srgbClr val="5F6368"/>
              </a:solidFill>
              <a:latin typeface="Open Sans"/>
              <a:ea typeface="Open Sans"/>
              <a:cs typeface="Open Sans"/>
              <a:sym typeface="Open Sans"/>
            </a:endParaRPr>
          </a:p>
        </p:txBody>
      </p:sp>
      <p:cxnSp>
        <p:nvCxnSpPr>
          <p:cNvPr id="272" name="Google Shape;272;p13"/>
          <p:cNvCxnSpPr/>
          <p:nvPr/>
        </p:nvCxnSpPr>
        <p:spPr>
          <a:xfrm rot="10800000">
            <a:off x="7055125" y="4295415"/>
            <a:ext cx="918000" cy="0"/>
          </a:xfrm>
          <a:prstGeom prst="straightConnector1">
            <a:avLst/>
          </a:prstGeom>
          <a:noFill/>
          <a:ln cap="flat" cmpd="sng" w="19050">
            <a:solidFill>
              <a:srgbClr val="FBBC04"/>
            </a:solidFill>
            <a:prstDash val="solid"/>
            <a:round/>
            <a:headEnd len="sm" w="sm" type="none"/>
            <a:tailEnd len="med" w="med" type="triangle"/>
          </a:ln>
        </p:spPr>
      </p:cxnSp>
      <p:sp>
        <p:nvSpPr>
          <p:cNvPr id="273" name="Google Shape;273;p13"/>
          <p:cNvSpPr txBox="1"/>
          <p:nvPr/>
        </p:nvSpPr>
        <p:spPr>
          <a:xfrm>
            <a:off x="7973125" y="3510600"/>
            <a:ext cx="1100400" cy="156963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Added the ability to go back and return to the previous screen, in case they want to add or change order</a:t>
            </a:r>
            <a:endParaRPr b="0" i="0" sz="1000" u="none" cap="none" strike="noStrike">
              <a:solidFill>
                <a:srgbClr val="5F6368"/>
              </a:solidFill>
              <a:latin typeface="Open Sans"/>
              <a:ea typeface="Open Sans"/>
              <a:cs typeface="Open Sans"/>
              <a:sym typeface="Open Sans"/>
            </a:endParaRPr>
          </a:p>
        </p:txBody>
      </p:sp>
      <p:pic>
        <p:nvPicPr>
          <p:cNvPr id="274" name="Google Shape;274;p13"/>
          <p:cNvPicPr preferRelativeResize="0"/>
          <p:nvPr/>
        </p:nvPicPr>
        <p:blipFill rotWithShape="1">
          <a:blip r:embed="rId3">
            <a:alphaModFix/>
          </a:blip>
          <a:srcRect b="0" l="0" r="0" t="0"/>
          <a:stretch/>
        </p:blipFill>
        <p:spPr>
          <a:xfrm>
            <a:off x="5379471" y="1078450"/>
            <a:ext cx="1964303" cy="381947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4"/>
          <p:cNvSpPr/>
          <p:nvPr/>
        </p:nvSpPr>
        <p:spPr>
          <a:xfrm>
            <a:off x="4211875" y="0"/>
            <a:ext cx="493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4"/>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Low-fidelity prototype</a:t>
            </a:r>
            <a:endParaRPr b="0" i="0" sz="2400" u="none" cap="none" strike="noStrike">
              <a:solidFill>
                <a:srgbClr val="5F6368"/>
              </a:solidFill>
              <a:latin typeface="Open Sans"/>
              <a:ea typeface="Open Sans"/>
              <a:cs typeface="Open Sans"/>
              <a:sym typeface="Open Sans"/>
            </a:endParaRPr>
          </a:p>
        </p:txBody>
      </p:sp>
      <p:sp>
        <p:nvSpPr>
          <p:cNvPr id="281" name="Google Shape;281;p14"/>
          <p:cNvSpPr txBox="1"/>
          <p:nvPr/>
        </p:nvSpPr>
        <p:spPr>
          <a:xfrm>
            <a:off x="6011725" y="2110050"/>
            <a:ext cx="13323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Screenshot of prototype with connections or prototype GIF</a:t>
            </a:r>
            <a:endParaRPr b="0" i="0" sz="1200" u="none" cap="none" strike="noStrike">
              <a:solidFill>
                <a:srgbClr val="5F6368"/>
              </a:solidFill>
              <a:latin typeface="Open Sans"/>
              <a:ea typeface="Open Sans"/>
              <a:cs typeface="Open Sans"/>
              <a:sym typeface="Open Sans"/>
            </a:endParaRPr>
          </a:p>
        </p:txBody>
      </p:sp>
      <p:sp>
        <p:nvSpPr>
          <p:cNvPr id="282" name="Google Shape;282;p14"/>
          <p:cNvSpPr txBox="1"/>
          <p:nvPr/>
        </p:nvSpPr>
        <p:spPr>
          <a:xfrm>
            <a:off x="532875" y="1793800"/>
            <a:ext cx="2915400" cy="1800463"/>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Used completed screens to make a low-fidelity prototype. The user flow I created is to search and pick a karate class for users.</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descr="Diagram&#10;&#10;Description automatically generated" id="283" name="Google Shape;283;p14"/>
          <p:cNvPicPr preferRelativeResize="0"/>
          <p:nvPr/>
        </p:nvPicPr>
        <p:blipFill rotWithShape="1">
          <a:blip r:embed="rId3">
            <a:alphaModFix/>
          </a:blip>
          <a:srcRect b="0" l="0" r="0" t="0"/>
          <a:stretch/>
        </p:blipFill>
        <p:spPr>
          <a:xfrm>
            <a:off x="3951737" y="25512"/>
            <a:ext cx="5192138"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nvSpPr>
        <p:spPr>
          <a:xfrm>
            <a:off x="517675" y="4481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Usability study: findings</a:t>
            </a:r>
            <a:endParaRPr b="0" i="0" sz="2400" u="none" cap="none" strike="noStrike">
              <a:solidFill>
                <a:srgbClr val="5F6368"/>
              </a:solidFill>
              <a:latin typeface="Open Sans"/>
              <a:ea typeface="Open Sans"/>
              <a:cs typeface="Open Sans"/>
              <a:sym typeface="Open Sans"/>
            </a:endParaRPr>
          </a:p>
        </p:txBody>
      </p:sp>
      <p:sp>
        <p:nvSpPr>
          <p:cNvPr id="289" name="Google Shape;289;p15"/>
          <p:cNvSpPr txBox="1"/>
          <p:nvPr/>
        </p:nvSpPr>
        <p:spPr>
          <a:xfrm>
            <a:off x="517675" y="885657"/>
            <a:ext cx="7873500" cy="13914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E6268"/>
                </a:solidFill>
                <a:latin typeface="Open Sans"/>
                <a:ea typeface="Open Sans"/>
                <a:cs typeface="Open Sans"/>
                <a:sym typeface="Open Sans"/>
              </a:rPr>
              <a:t>Conducted an unmoderated usability study, that was performed remotely within the USA. I had six participants that were given different task numbers and directions to complete using the app. We had a few findings and suggestions that each </a:t>
            </a:r>
            <a:r>
              <a:rPr lang="en">
                <a:solidFill>
                  <a:srgbClr val="5E6268"/>
                </a:solidFill>
                <a:latin typeface="Open Sans"/>
                <a:ea typeface="Open Sans"/>
                <a:cs typeface="Open Sans"/>
                <a:sym typeface="Open Sans"/>
              </a:rPr>
              <a:t>individual</a:t>
            </a:r>
            <a:r>
              <a:rPr b="0" i="0" lang="en" sz="1400" u="none" cap="none" strike="noStrike">
                <a:solidFill>
                  <a:srgbClr val="5E6268"/>
                </a:solidFill>
                <a:latin typeface="Open Sans"/>
                <a:ea typeface="Open Sans"/>
                <a:cs typeface="Open Sans"/>
                <a:sym typeface="Open Sans"/>
              </a:rPr>
              <a:t> felt would make their experience smoother</a:t>
            </a:r>
            <a:endParaRPr b="0" i="0" sz="1400" u="none" cap="none" strike="noStrike">
              <a:solidFill>
                <a:srgbClr val="5F6368"/>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5F6368"/>
              </a:solidFill>
              <a:latin typeface="Open Sans"/>
              <a:ea typeface="Open Sans"/>
              <a:cs typeface="Open Sans"/>
              <a:sym typeface="Open Sans"/>
            </a:endParaRPr>
          </a:p>
        </p:txBody>
      </p:sp>
      <p:sp>
        <p:nvSpPr>
          <p:cNvPr id="290" name="Google Shape;290;p15"/>
          <p:cNvSpPr txBox="1"/>
          <p:nvPr/>
        </p:nvSpPr>
        <p:spPr>
          <a:xfrm>
            <a:off x="456675" y="2022575"/>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rgbClr val="F29900"/>
                </a:solidFill>
                <a:latin typeface="Open Sans"/>
                <a:ea typeface="Open Sans"/>
                <a:cs typeface="Open Sans"/>
                <a:sym typeface="Open Sans"/>
              </a:rPr>
              <a:t>Round 1 findings</a:t>
            </a:r>
            <a:endParaRPr b="1" i="0" sz="1400" u="none" cap="none" strike="noStrike">
              <a:solidFill>
                <a:srgbClr val="F29900"/>
              </a:solidFill>
              <a:latin typeface="Arial"/>
              <a:ea typeface="Arial"/>
              <a:cs typeface="Arial"/>
              <a:sym typeface="Arial"/>
            </a:endParaRPr>
          </a:p>
        </p:txBody>
      </p:sp>
      <p:sp>
        <p:nvSpPr>
          <p:cNvPr id="291" name="Google Shape;291;p15"/>
          <p:cNvSpPr/>
          <p:nvPr/>
        </p:nvSpPr>
        <p:spPr>
          <a:xfrm>
            <a:off x="4477900" y="2422775"/>
            <a:ext cx="3775800" cy="20637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5"/>
          <p:cNvSpPr txBox="1"/>
          <p:nvPr/>
        </p:nvSpPr>
        <p:spPr>
          <a:xfrm>
            <a:off x="4984525" y="2568500"/>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User wants to save </a:t>
            </a:r>
            <a:r>
              <a:rPr lang="en">
                <a:solidFill>
                  <a:srgbClr val="5F6368"/>
                </a:solidFill>
                <a:latin typeface="Open Sans"/>
                <a:ea typeface="Open Sans"/>
                <a:cs typeface="Open Sans"/>
                <a:sym typeface="Open Sans"/>
              </a:rPr>
              <a:t>favorite</a:t>
            </a:r>
            <a:r>
              <a:rPr b="0" i="0" lang="en" sz="1400" u="none" cap="none" strike="noStrike">
                <a:solidFill>
                  <a:srgbClr val="5F6368"/>
                </a:solidFill>
                <a:latin typeface="Open Sans"/>
                <a:ea typeface="Open Sans"/>
                <a:cs typeface="Open Sans"/>
                <a:sym typeface="Open Sans"/>
              </a:rPr>
              <a:t> class</a:t>
            </a:r>
            <a:endParaRPr b="0" i="0" sz="1400" u="none" cap="none" strike="noStrike">
              <a:solidFill>
                <a:srgbClr val="000000"/>
              </a:solidFill>
              <a:latin typeface="Arial"/>
              <a:ea typeface="Arial"/>
              <a:cs typeface="Arial"/>
              <a:sym typeface="Arial"/>
            </a:endParaRPr>
          </a:p>
        </p:txBody>
      </p:sp>
      <p:sp>
        <p:nvSpPr>
          <p:cNvPr id="293" name="Google Shape;293;p15"/>
          <p:cNvSpPr/>
          <p:nvPr/>
        </p:nvSpPr>
        <p:spPr>
          <a:xfrm>
            <a:off x="4671550" y="263119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1</a:t>
            </a:r>
            <a:endParaRPr b="0" i="0" sz="1400" u="none" cap="none" strike="noStrike">
              <a:solidFill>
                <a:srgbClr val="FFFFFF"/>
              </a:solidFill>
              <a:latin typeface="Arial"/>
              <a:ea typeface="Arial"/>
              <a:cs typeface="Arial"/>
              <a:sym typeface="Arial"/>
            </a:endParaRPr>
          </a:p>
        </p:txBody>
      </p:sp>
      <p:sp>
        <p:nvSpPr>
          <p:cNvPr id="294" name="Google Shape;294;p15"/>
          <p:cNvSpPr txBox="1"/>
          <p:nvPr/>
        </p:nvSpPr>
        <p:spPr>
          <a:xfrm>
            <a:off x="4984525" y="3198325"/>
            <a:ext cx="3336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User wants bigger font</a:t>
            </a:r>
            <a:endParaRPr b="0" i="0" sz="1400" u="none" cap="none" strike="noStrike">
              <a:solidFill>
                <a:srgbClr val="000000"/>
              </a:solidFill>
              <a:latin typeface="Arial"/>
              <a:ea typeface="Arial"/>
              <a:cs typeface="Arial"/>
              <a:sym typeface="Arial"/>
            </a:endParaRPr>
          </a:p>
        </p:txBody>
      </p:sp>
      <p:sp>
        <p:nvSpPr>
          <p:cNvPr id="295" name="Google Shape;295;p15"/>
          <p:cNvSpPr/>
          <p:nvPr/>
        </p:nvSpPr>
        <p:spPr>
          <a:xfrm>
            <a:off x="4671550" y="3261023"/>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2</a:t>
            </a:r>
            <a:endParaRPr b="0" i="0" sz="1400" u="none" cap="none" strike="noStrike">
              <a:solidFill>
                <a:srgbClr val="FFFFFF"/>
              </a:solidFill>
              <a:latin typeface="Arial"/>
              <a:ea typeface="Arial"/>
              <a:cs typeface="Arial"/>
              <a:sym typeface="Arial"/>
            </a:endParaRPr>
          </a:p>
        </p:txBody>
      </p:sp>
      <p:sp>
        <p:nvSpPr>
          <p:cNvPr id="296" name="Google Shape;296;p15"/>
          <p:cNvSpPr txBox="1"/>
          <p:nvPr/>
        </p:nvSpPr>
        <p:spPr>
          <a:xfrm>
            <a:off x="4416900" y="2022575"/>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rgbClr val="F29900"/>
                </a:solidFill>
                <a:latin typeface="Open Sans"/>
                <a:ea typeface="Open Sans"/>
                <a:cs typeface="Open Sans"/>
                <a:sym typeface="Open Sans"/>
              </a:rPr>
              <a:t>Round 2 findings</a:t>
            </a:r>
            <a:endParaRPr b="1" i="0" sz="1400" u="none" cap="none" strike="noStrike">
              <a:solidFill>
                <a:srgbClr val="F29900"/>
              </a:solidFill>
              <a:latin typeface="Arial"/>
              <a:ea typeface="Arial"/>
              <a:cs typeface="Arial"/>
              <a:sym typeface="Arial"/>
            </a:endParaRPr>
          </a:p>
        </p:txBody>
      </p:sp>
      <p:sp>
        <p:nvSpPr>
          <p:cNvPr id="297" name="Google Shape;297;p15"/>
          <p:cNvSpPr txBox="1"/>
          <p:nvPr/>
        </p:nvSpPr>
        <p:spPr>
          <a:xfrm>
            <a:off x="4937363" y="3828150"/>
            <a:ext cx="3336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User wants a confirmation animation</a:t>
            </a:r>
            <a:endParaRPr b="0" i="0" sz="1400" u="none" cap="none" strike="noStrike">
              <a:solidFill>
                <a:srgbClr val="000000"/>
              </a:solidFill>
              <a:latin typeface="Arial"/>
              <a:ea typeface="Arial"/>
              <a:cs typeface="Arial"/>
              <a:sym typeface="Arial"/>
            </a:endParaRPr>
          </a:p>
        </p:txBody>
      </p:sp>
      <p:sp>
        <p:nvSpPr>
          <p:cNvPr id="298" name="Google Shape;298;p15"/>
          <p:cNvSpPr/>
          <p:nvPr/>
        </p:nvSpPr>
        <p:spPr>
          <a:xfrm>
            <a:off x="4671538" y="389084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3</a:t>
            </a:r>
            <a:endParaRPr b="0" i="0" sz="1400" u="none" cap="none" strike="noStrike">
              <a:solidFill>
                <a:srgbClr val="FFFFFF"/>
              </a:solidFill>
              <a:latin typeface="Arial"/>
              <a:ea typeface="Arial"/>
              <a:cs typeface="Arial"/>
              <a:sym typeface="Arial"/>
            </a:endParaRPr>
          </a:p>
        </p:txBody>
      </p:sp>
      <p:sp>
        <p:nvSpPr>
          <p:cNvPr id="299" name="Google Shape;299;p15"/>
          <p:cNvSpPr/>
          <p:nvPr/>
        </p:nvSpPr>
        <p:spPr>
          <a:xfrm>
            <a:off x="456675" y="2422775"/>
            <a:ext cx="3775800" cy="20637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5"/>
          <p:cNvSpPr txBox="1"/>
          <p:nvPr/>
        </p:nvSpPr>
        <p:spPr>
          <a:xfrm>
            <a:off x="963300" y="2568500"/>
            <a:ext cx="3336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Able to browser without login</a:t>
            </a:r>
            <a:endParaRPr b="0" i="0" sz="1400" u="none" cap="none" strike="noStrike">
              <a:solidFill>
                <a:srgbClr val="000000"/>
              </a:solidFill>
              <a:latin typeface="Arial"/>
              <a:ea typeface="Arial"/>
              <a:cs typeface="Arial"/>
              <a:sym typeface="Arial"/>
            </a:endParaRPr>
          </a:p>
        </p:txBody>
      </p:sp>
      <p:sp>
        <p:nvSpPr>
          <p:cNvPr id="301" name="Google Shape;301;p15"/>
          <p:cNvSpPr/>
          <p:nvPr/>
        </p:nvSpPr>
        <p:spPr>
          <a:xfrm>
            <a:off x="650325" y="263119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1</a:t>
            </a:r>
            <a:endParaRPr b="0" i="0" sz="1400" u="none" cap="none" strike="noStrike">
              <a:solidFill>
                <a:srgbClr val="FFFFFF"/>
              </a:solidFill>
              <a:latin typeface="Arial"/>
              <a:ea typeface="Arial"/>
              <a:cs typeface="Arial"/>
              <a:sym typeface="Arial"/>
            </a:endParaRPr>
          </a:p>
        </p:txBody>
      </p:sp>
      <p:sp>
        <p:nvSpPr>
          <p:cNvPr id="302" name="Google Shape;302;p15"/>
          <p:cNvSpPr txBox="1"/>
          <p:nvPr/>
        </p:nvSpPr>
        <p:spPr>
          <a:xfrm>
            <a:off x="963300" y="3198325"/>
            <a:ext cx="3336000" cy="4323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Fast checkout</a:t>
            </a:r>
            <a:endParaRPr b="0" i="0" sz="1400" u="none" cap="none" strike="noStrike">
              <a:solidFill>
                <a:srgbClr val="000000"/>
              </a:solidFill>
              <a:latin typeface="Arial"/>
              <a:ea typeface="Arial"/>
              <a:cs typeface="Arial"/>
              <a:sym typeface="Arial"/>
            </a:endParaRPr>
          </a:p>
        </p:txBody>
      </p:sp>
      <p:sp>
        <p:nvSpPr>
          <p:cNvPr id="303" name="Google Shape;303;p15"/>
          <p:cNvSpPr/>
          <p:nvPr/>
        </p:nvSpPr>
        <p:spPr>
          <a:xfrm>
            <a:off x="650325" y="3261023"/>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2</a:t>
            </a:r>
            <a:endParaRPr b="0" i="0" sz="1400" u="none" cap="none" strike="noStrike">
              <a:solidFill>
                <a:srgbClr val="FFFFFF"/>
              </a:solidFill>
              <a:latin typeface="Arial"/>
              <a:ea typeface="Arial"/>
              <a:cs typeface="Arial"/>
              <a:sym typeface="Arial"/>
            </a:endParaRPr>
          </a:p>
        </p:txBody>
      </p:sp>
      <p:sp>
        <p:nvSpPr>
          <p:cNvPr id="304" name="Google Shape;304;p15"/>
          <p:cNvSpPr txBox="1"/>
          <p:nvPr/>
        </p:nvSpPr>
        <p:spPr>
          <a:xfrm>
            <a:off x="916138" y="3828150"/>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User wants </a:t>
            </a:r>
            <a:r>
              <a:rPr lang="en">
                <a:solidFill>
                  <a:srgbClr val="5F6368"/>
                </a:solidFill>
                <a:latin typeface="Open Sans"/>
                <a:ea typeface="Open Sans"/>
                <a:cs typeface="Open Sans"/>
                <a:sym typeface="Open Sans"/>
              </a:rPr>
              <a:t>shortcuts</a:t>
            </a:r>
            <a:endParaRPr b="0" i="0" sz="1400" u="none" cap="none" strike="noStrike">
              <a:solidFill>
                <a:srgbClr val="000000"/>
              </a:solidFill>
              <a:latin typeface="Arial"/>
              <a:ea typeface="Arial"/>
              <a:cs typeface="Arial"/>
              <a:sym typeface="Arial"/>
            </a:endParaRPr>
          </a:p>
        </p:txBody>
      </p:sp>
      <p:sp>
        <p:nvSpPr>
          <p:cNvPr id="305" name="Google Shape;305;p15"/>
          <p:cNvSpPr/>
          <p:nvPr/>
        </p:nvSpPr>
        <p:spPr>
          <a:xfrm>
            <a:off x="650313" y="389084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3</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A853"/>
        </a:solidFill>
      </p:bgPr>
    </p:bg>
    <p:spTree>
      <p:nvGrpSpPr>
        <p:cNvPr id="309" name="Shape 309"/>
        <p:cNvGrpSpPr/>
        <p:nvPr/>
      </p:nvGrpSpPr>
      <p:grpSpPr>
        <a:xfrm>
          <a:off x="0" y="0"/>
          <a:ext cx="0" cy="0"/>
          <a:chOff x="0" y="0"/>
          <a:chExt cx="0" cy="0"/>
        </a:xfrm>
      </p:grpSpPr>
      <p:sp>
        <p:nvSpPr>
          <p:cNvPr id="310" name="Google Shape;310;p16"/>
          <p:cNvSpPr txBox="1"/>
          <p:nvPr/>
        </p:nvSpPr>
        <p:spPr>
          <a:xfrm>
            <a:off x="3721275" y="2048400"/>
            <a:ext cx="3990000" cy="1046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Mockups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High-fidelity prototype</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Accessibility</a:t>
            </a:r>
            <a:endParaRPr b="0" i="0" sz="1400" u="none" cap="none" strike="noStrike">
              <a:solidFill>
                <a:srgbClr val="FFFFFF"/>
              </a:solidFill>
              <a:latin typeface="Open Sans"/>
              <a:ea typeface="Open Sans"/>
              <a:cs typeface="Open Sans"/>
              <a:sym typeface="Open Sans"/>
            </a:endParaRPr>
          </a:p>
        </p:txBody>
      </p:sp>
      <p:sp>
        <p:nvSpPr>
          <p:cNvPr id="311" name="Google Shape;311;p16"/>
          <p:cNvSpPr txBox="1"/>
          <p:nvPr/>
        </p:nvSpPr>
        <p:spPr>
          <a:xfrm>
            <a:off x="-468875" y="2082300"/>
            <a:ext cx="3704400" cy="978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Refining</a:t>
            </a:r>
            <a:endParaRPr b="0" i="0" sz="2400" u="none" cap="none" strike="noStrike">
              <a:solidFill>
                <a:srgbClr val="FFFFFF"/>
              </a:solidFill>
              <a:latin typeface="Open Sans"/>
              <a:ea typeface="Open Sans"/>
              <a:cs typeface="Open Sans"/>
              <a:sym typeface="Open Sans"/>
            </a:endParaRPr>
          </a:p>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the design</a:t>
            </a:r>
            <a:endParaRPr b="0" i="0" sz="2400" u="none" cap="none" strike="noStrike">
              <a:solidFill>
                <a:srgbClr val="FFFFFF"/>
              </a:solidFill>
              <a:latin typeface="Open Sans"/>
              <a:ea typeface="Open Sans"/>
              <a:cs typeface="Open Sans"/>
              <a:sym typeface="Open Sans"/>
            </a:endParaRPr>
          </a:p>
        </p:txBody>
      </p:sp>
      <p:cxnSp>
        <p:nvCxnSpPr>
          <p:cNvPr id="312" name="Google Shape;312;p16"/>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7"/>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Mockups</a:t>
            </a:r>
            <a:endParaRPr b="0" i="0" sz="2400" u="none" cap="none" strike="noStrike">
              <a:solidFill>
                <a:srgbClr val="5F6368"/>
              </a:solidFill>
              <a:latin typeface="Open Sans"/>
              <a:ea typeface="Open Sans"/>
              <a:cs typeface="Open Sans"/>
              <a:sym typeface="Open Sans"/>
            </a:endParaRPr>
          </a:p>
        </p:txBody>
      </p:sp>
      <p:sp>
        <p:nvSpPr>
          <p:cNvPr id="318" name="Google Shape;318;p17"/>
          <p:cNvSpPr txBox="1"/>
          <p:nvPr/>
        </p:nvSpPr>
        <p:spPr>
          <a:xfrm>
            <a:off x="517675" y="1522550"/>
            <a:ext cx="2421300" cy="2769959"/>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Felt the early design was messing some key elements, based on user study I added some key buttons to allow customer to move from screen to screen.</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7"/>
          <p:cNvSpPr/>
          <p:nvPr/>
        </p:nvSpPr>
        <p:spPr>
          <a:xfrm>
            <a:off x="3718563" y="125000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7"/>
          <p:cNvSpPr/>
          <p:nvPr/>
        </p:nvSpPr>
        <p:spPr>
          <a:xfrm>
            <a:off x="6774138" y="126830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1" name="Google Shape;321;p17"/>
          <p:cNvCxnSpPr/>
          <p:nvPr/>
        </p:nvCxnSpPr>
        <p:spPr>
          <a:xfrm>
            <a:off x="5749763" y="2855450"/>
            <a:ext cx="812100" cy="0"/>
          </a:xfrm>
          <a:prstGeom prst="straightConnector1">
            <a:avLst/>
          </a:prstGeom>
          <a:noFill/>
          <a:ln cap="flat" cmpd="sng" w="28575">
            <a:solidFill>
              <a:srgbClr val="34A853"/>
            </a:solidFill>
            <a:prstDash val="solid"/>
            <a:round/>
            <a:headEnd len="sm" w="sm" type="none"/>
            <a:tailEnd len="med" w="med" type="triangle"/>
          </a:ln>
        </p:spPr>
      </p:cxnSp>
      <p:sp>
        <p:nvSpPr>
          <p:cNvPr id="322" name="Google Shape;322;p17"/>
          <p:cNvSpPr txBox="1"/>
          <p:nvPr/>
        </p:nvSpPr>
        <p:spPr>
          <a:xfrm>
            <a:off x="3451125"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Before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sp>
        <p:nvSpPr>
          <p:cNvPr id="323" name="Google Shape;323;p17"/>
          <p:cNvSpPr txBox="1"/>
          <p:nvPr/>
        </p:nvSpPr>
        <p:spPr>
          <a:xfrm>
            <a:off x="6506700"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After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pic>
        <p:nvPicPr>
          <p:cNvPr id="324" name="Google Shape;324;p17"/>
          <p:cNvPicPr preferRelativeResize="0"/>
          <p:nvPr/>
        </p:nvPicPr>
        <p:blipFill rotWithShape="1">
          <a:blip r:embed="rId3">
            <a:alphaModFix/>
          </a:blip>
          <a:srcRect b="0" l="0" r="0" t="0"/>
          <a:stretch/>
        </p:blipFill>
        <p:spPr>
          <a:xfrm>
            <a:off x="3676912" y="1298688"/>
            <a:ext cx="1845077" cy="3199125"/>
          </a:xfrm>
          <a:prstGeom prst="rect">
            <a:avLst/>
          </a:prstGeom>
          <a:noFill/>
          <a:ln>
            <a:noFill/>
          </a:ln>
        </p:spPr>
      </p:pic>
      <p:pic>
        <p:nvPicPr>
          <p:cNvPr id="325" name="Google Shape;325;p17"/>
          <p:cNvPicPr preferRelativeResize="0"/>
          <p:nvPr/>
        </p:nvPicPr>
        <p:blipFill rotWithShape="1">
          <a:blip r:embed="rId4">
            <a:alphaModFix/>
          </a:blip>
          <a:srcRect b="0" l="436" r="446" t="0"/>
          <a:stretch/>
        </p:blipFill>
        <p:spPr>
          <a:xfrm>
            <a:off x="6789662" y="1298712"/>
            <a:ext cx="1845077" cy="32784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8"/>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Mockups</a:t>
            </a:r>
            <a:endParaRPr b="0" i="0" sz="2400" u="none" cap="none" strike="noStrike">
              <a:solidFill>
                <a:srgbClr val="5F6368"/>
              </a:solidFill>
              <a:latin typeface="Open Sans"/>
              <a:ea typeface="Open Sans"/>
              <a:cs typeface="Open Sans"/>
              <a:sym typeface="Open Sans"/>
            </a:endParaRPr>
          </a:p>
        </p:txBody>
      </p:sp>
      <p:sp>
        <p:nvSpPr>
          <p:cNvPr id="331" name="Google Shape;331;p18"/>
          <p:cNvSpPr txBox="1"/>
          <p:nvPr/>
        </p:nvSpPr>
        <p:spPr>
          <a:xfrm>
            <a:off x="374275" y="1522550"/>
            <a:ext cx="2790600" cy="23397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Round two of the usability study revealed the </a:t>
            </a:r>
            <a:r>
              <a:rPr lang="en">
                <a:solidFill>
                  <a:srgbClr val="5F6368"/>
                </a:solidFill>
                <a:latin typeface="Open Sans"/>
                <a:ea typeface="Open Sans"/>
                <a:cs typeface="Open Sans"/>
                <a:sym typeface="Open Sans"/>
              </a:rPr>
              <a:t>customer</a:t>
            </a:r>
            <a:r>
              <a:rPr b="0" i="0" lang="en" sz="1400" u="none" cap="none" strike="noStrike">
                <a:solidFill>
                  <a:srgbClr val="5F6368"/>
                </a:solidFill>
                <a:latin typeface="Open Sans"/>
                <a:ea typeface="Open Sans"/>
                <a:cs typeface="Open Sans"/>
                <a:sym typeface="Open Sans"/>
              </a:rPr>
              <a:t> wanted larger font, so I added a zoom/ text to speech option and add a menu button to allow fluidity within the app. </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2" name="Google Shape;332;p18"/>
          <p:cNvCxnSpPr/>
          <p:nvPr/>
        </p:nvCxnSpPr>
        <p:spPr>
          <a:xfrm>
            <a:off x="5749763" y="2855450"/>
            <a:ext cx="812100" cy="0"/>
          </a:xfrm>
          <a:prstGeom prst="straightConnector1">
            <a:avLst/>
          </a:prstGeom>
          <a:noFill/>
          <a:ln cap="flat" cmpd="sng" w="28575">
            <a:solidFill>
              <a:srgbClr val="34A853"/>
            </a:solidFill>
            <a:prstDash val="solid"/>
            <a:round/>
            <a:headEnd len="sm" w="sm" type="none"/>
            <a:tailEnd len="med" w="med" type="triangle"/>
          </a:ln>
        </p:spPr>
      </p:cxnSp>
      <p:sp>
        <p:nvSpPr>
          <p:cNvPr id="333" name="Google Shape;333;p18"/>
          <p:cNvSpPr txBox="1"/>
          <p:nvPr/>
        </p:nvSpPr>
        <p:spPr>
          <a:xfrm>
            <a:off x="3451125"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Before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sp>
        <p:nvSpPr>
          <p:cNvPr id="334" name="Google Shape;334;p18"/>
          <p:cNvSpPr txBox="1"/>
          <p:nvPr/>
        </p:nvSpPr>
        <p:spPr>
          <a:xfrm>
            <a:off x="6506700"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After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pic>
        <p:nvPicPr>
          <p:cNvPr id="335" name="Google Shape;335;p18"/>
          <p:cNvPicPr preferRelativeResize="0"/>
          <p:nvPr/>
        </p:nvPicPr>
        <p:blipFill rotWithShape="1">
          <a:blip r:embed="rId3">
            <a:alphaModFix/>
          </a:blip>
          <a:srcRect b="0" l="0" r="0" t="0"/>
          <a:stretch/>
        </p:blipFill>
        <p:spPr>
          <a:xfrm>
            <a:off x="3680025" y="1268300"/>
            <a:ext cx="1818900" cy="3195142"/>
          </a:xfrm>
          <a:prstGeom prst="rect">
            <a:avLst/>
          </a:prstGeom>
          <a:noFill/>
          <a:ln>
            <a:noFill/>
          </a:ln>
        </p:spPr>
      </p:pic>
      <p:pic>
        <p:nvPicPr>
          <p:cNvPr id="336" name="Google Shape;336;p18"/>
          <p:cNvPicPr preferRelativeResize="0"/>
          <p:nvPr/>
        </p:nvPicPr>
        <p:blipFill>
          <a:blip r:embed="rId4">
            <a:alphaModFix/>
          </a:blip>
          <a:stretch>
            <a:fillRect/>
          </a:stretch>
        </p:blipFill>
        <p:spPr>
          <a:xfrm>
            <a:off x="6730175" y="1263888"/>
            <a:ext cx="1818900" cy="31831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9"/>
          <p:cNvSpPr txBox="1"/>
          <p:nvPr/>
        </p:nvSpPr>
        <p:spPr>
          <a:xfrm>
            <a:off x="531000" y="521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Mockups</a:t>
            </a:r>
            <a:endParaRPr b="0" i="0" sz="2400" u="none" cap="none" strike="noStrike">
              <a:solidFill>
                <a:srgbClr val="5F6368"/>
              </a:solidFill>
              <a:latin typeface="Open Sans"/>
              <a:ea typeface="Open Sans"/>
              <a:cs typeface="Open Sans"/>
              <a:sym typeface="Open Sans"/>
            </a:endParaRPr>
          </a:p>
        </p:txBody>
      </p:sp>
      <p:pic>
        <p:nvPicPr>
          <p:cNvPr id="342" name="Google Shape;342;p19"/>
          <p:cNvPicPr preferRelativeResize="0"/>
          <p:nvPr/>
        </p:nvPicPr>
        <p:blipFill rotWithShape="1">
          <a:blip r:embed="rId3">
            <a:alphaModFix/>
          </a:blip>
          <a:srcRect b="0" l="209" r="209" t="0"/>
          <a:stretch/>
        </p:blipFill>
        <p:spPr>
          <a:xfrm>
            <a:off x="92100" y="1418425"/>
            <a:ext cx="1741115" cy="3027400"/>
          </a:xfrm>
          <a:prstGeom prst="rect">
            <a:avLst/>
          </a:prstGeom>
          <a:noFill/>
          <a:ln>
            <a:noFill/>
          </a:ln>
        </p:spPr>
      </p:pic>
      <p:pic>
        <p:nvPicPr>
          <p:cNvPr id="343" name="Google Shape;343;p19"/>
          <p:cNvPicPr preferRelativeResize="0"/>
          <p:nvPr/>
        </p:nvPicPr>
        <p:blipFill rotWithShape="1">
          <a:blip r:embed="rId4">
            <a:alphaModFix/>
          </a:blip>
          <a:srcRect b="1783" l="0" r="0" t="1783"/>
          <a:stretch/>
        </p:blipFill>
        <p:spPr>
          <a:xfrm>
            <a:off x="1996175" y="1448025"/>
            <a:ext cx="1686300" cy="2997799"/>
          </a:xfrm>
          <a:prstGeom prst="rect">
            <a:avLst/>
          </a:prstGeom>
          <a:noFill/>
          <a:ln>
            <a:noFill/>
          </a:ln>
        </p:spPr>
      </p:pic>
      <p:pic>
        <p:nvPicPr>
          <p:cNvPr id="344" name="Google Shape;344;p19"/>
          <p:cNvPicPr preferRelativeResize="0"/>
          <p:nvPr/>
        </p:nvPicPr>
        <p:blipFill rotWithShape="1">
          <a:blip r:embed="rId5">
            <a:alphaModFix/>
          </a:blip>
          <a:srcRect b="129" l="0" r="0" t="119"/>
          <a:stretch/>
        </p:blipFill>
        <p:spPr>
          <a:xfrm>
            <a:off x="3845425" y="1418425"/>
            <a:ext cx="1657575" cy="3049225"/>
          </a:xfrm>
          <a:prstGeom prst="rect">
            <a:avLst/>
          </a:prstGeom>
          <a:noFill/>
          <a:ln>
            <a:noFill/>
          </a:ln>
        </p:spPr>
      </p:pic>
      <p:pic>
        <p:nvPicPr>
          <p:cNvPr id="345" name="Google Shape;345;p19"/>
          <p:cNvPicPr preferRelativeResize="0"/>
          <p:nvPr/>
        </p:nvPicPr>
        <p:blipFill rotWithShape="1">
          <a:blip r:embed="rId6">
            <a:alphaModFix/>
          </a:blip>
          <a:srcRect b="816" l="0" r="0" t="816"/>
          <a:stretch/>
        </p:blipFill>
        <p:spPr>
          <a:xfrm>
            <a:off x="5575150" y="1448025"/>
            <a:ext cx="1686150" cy="2965951"/>
          </a:xfrm>
          <a:prstGeom prst="rect">
            <a:avLst/>
          </a:prstGeom>
          <a:noFill/>
          <a:ln>
            <a:noFill/>
          </a:ln>
        </p:spPr>
      </p:pic>
      <p:pic>
        <p:nvPicPr>
          <p:cNvPr id="346" name="Google Shape;346;p19"/>
          <p:cNvPicPr preferRelativeResize="0"/>
          <p:nvPr/>
        </p:nvPicPr>
        <p:blipFill>
          <a:blip r:embed="rId7">
            <a:alphaModFix/>
          </a:blip>
          <a:stretch>
            <a:fillRect/>
          </a:stretch>
        </p:blipFill>
        <p:spPr>
          <a:xfrm>
            <a:off x="7333450" y="1448025"/>
            <a:ext cx="1657575" cy="2965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0"/>
          <p:cNvSpPr txBox="1"/>
          <p:nvPr/>
        </p:nvSpPr>
        <p:spPr>
          <a:xfrm>
            <a:off x="517675" y="524350"/>
            <a:ext cx="7000800" cy="9789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High-fidelity</a:t>
            </a:r>
            <a:br>
              <a:rPr b="0" i="0" lang="en" sz="2400" u="none" cap="none" strike="noStrike">
                <a:solidFill>
                  <a:srgbClr val="5F6368"/>
                </a:solidFill>
                <a:latin typeface="Open Sans"/>
                <a:ea typeface="Open Sans"/>
                <a:cs typeface="Open Sans"/>
                <a:sym typeface="Open Sans"/>
              </a:rPr>
            </a:br>
            <a:r>
              <a:rPr b="0" i="0" lang="en" sz="2400" u="none" cap="none" strike="noStrike">
                <a:solidFill>
                  <a:srgbClr val="5F6368"/>
                </a:solidFill>
                <a:latin typeface="Open Sans"/>
                <a:ea typeface="Open Sans"/>
                <a:cs typeface="Open Sans"/>
                <a:sym typeface="Open Sans"/>
              </a:rPr>
              <a:t>prototype</a:t>
            </a:r>
            <a:endParaRPr b="0" i="0" sz="2400" u="none" cap="none" strike="noStrike">
              <a:solidFill>
                <a:srgbClr val="5F6368"/>
              </a:solidFill>
              <a:latin typeface="Open Sans"/>
              <a:ea typeface="Open Sans"/>
              <a:cs typeface="Open Sans"/>
              <a:sym typeface="Open Sans"/>
            </a:endParaRPr>
          </a:p>
        </p:txBody>
      </p:sp>
      <p:sp>
        <p:nvSpPr>
          <p:cNvPr id="352" name="Google Shape;352;p20"/>
          <p:cNvSpPr txBox="1"/>
          <p:nvPr/>
        </p:nvSpPr>
        <p:spPr>
          <a:xfrm>
            <a:off x="532875" y="1793800"/>
            <a:ext cx="2224200" cy="2446793"/>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Finale high-fidelity prototype present animations and clean flow for users to be able to search and pick classes. </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353" name="Google Shape;353;p20"/>
          <p:cNvPicPr preferRelativeResize="0"/>
          <p:nvPr/>
        </p:nvPicPr>
        <p:blipFill rotWithShape="1">
          <a:blip r:embed="rId3">
            <a:alphaModFix/>
          </a:blip>
          <a:srcRect b="0" l="0" r="0" t="0"/>
          <a:stretch/>
        </p:blipFill>
        <p:spPr>
          <a:xfrm>
            <a:off x="3120043" y="1109029"/>
            <a:ext cx="5571438" cy="23314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1"/>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Accessibility considerations</a:t>
            </a:r>
            <a:endParaRPr b="0" i="0" sz="2400" u="none" cap="none" strike="noStrike">
              <a:solidFill>
                <a:srgbClr val="5F6368"/>
              </a:solidFill>
              <a:latin typeface="Open Sans"/>
              <a:ea typeface="Open Sans"/>
              <a:cs typeface="Open Sans"/>
              <a:sym typeface="Open Sans"/>
            </a:endParaRPr>
          </a:p>
        </p:txBody>
      </p:sp>
      <p:sp>
        <p:nvSpPr>
          <p:cNvPr id="359" name="Google Shape;359;p21"/>
          <p:cNvSpPr/>
          <p:nvPr/>
        </p:nvSpPr>
        <p:spPr>
          <a:xfrm>
            <a:off x="5176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1"/>
          <p:cNvSpPr txBox="1"/>
          <p:nvPr/>
        </p:nvSpPr>
        <p:spPr>
          <a:xfrm>
            <a:off x="711325" y="1917800"/>
            <a:ext cx="2049000" cy="794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666666"/>
                </a:solidFill>
                <a:latin typeface="Open Sans"/>
                <a:ea typeface="Open Sans"/>
                <a:cs typeface="Open Sans"/>
                <a:sym typeface="Open Sans"/>
              </a:rPr>
              <a:t>Used hamburger icon to provide easy navigation between screens.</a:t>
            </a:r>
            <a:endParaRPr b="0" i="0" sz="1200" u="none" cap="none" strike="noStrike">
              <a:solidFill>
                <a:srgbClr val="666666"/>
              </a:solidFill>
              <a:latin typeface="Open Sans"/>
              <a:ea typeface="Open Sans"/>
              <a:cs typeface="Open Sans"/>
              <a:sym typeface="Open Sans"/>
            </a:endParaRPr>
          </a:p>
        </p:txBody>
      </p:sp>
      <p:sp>
        <p:nvSpPr>
          <p:cNvPr id="361" name="Google Shape;361;p21"/>
          <p:cNvSpPr/>
          <p:nvPr/>
        </p:nvSpPr>
        <p:spPr>
          <a:xfrm>
            <a:off x="31752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1"/>
          <p:cNvSpPr txBox="1"/>
          <p:nvPr/>
        </p:nvSpPr>
        <p:spPr>
          <a:xfrm>
            <a:off x="3368925" y="1917800"/>
            <a:ext cx="2049000" cy="1034099"/>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Provided access to users who are vision impaired by adding speak to text option and zoom option.</a:t>
            </a:r>
            <a:endParaRPr b="0" i="0" sz="1200" u="none" cap="none" strike="noStrike">
              <a:solidFill>
                <a:srgbClr val="000000"/>
              </a:solidFill>
              <a:latin typeface="Arial"/>
              <a:ea typeface="Arial"/>
              <a:cs typeface="Arial"/>
              <a:sym typeface="Arial"/>
            </a:endParaRPr>
          </a:p>
        </p:txBody>
      </p:sp>
      <p:sp>
        <p:nvSpPr>
          <p:cNvPr id="363" name="Google Shape;363;p21"/>
          <p:cNvSpPr/>
          <p:nvPr/>
        </p:nvSpPr>
        <p:spPr>
          <a:xfrm>
            <a:off x="58328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1"/>
          <p:cNvSpPr txBox="1"/>
          <p:nvPr/>
        </p:nvSpPr>
        <p:spPr>
          <a:xfrm>
            <a:off x="6026525" y="1917800"/>
            <a:ext cx="2049000" cy="124646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Used familiar imagery from buttons to adding full images of classes to help all users find classes easier. </a:t>
            </a:r>
            <a:endParaRPr b="0" i="0" sz="1200" u="none" cap="none" strike="noStrike">
              <a:solidFill>
                <a:srgbClr val="000000"/>
              </a:solidFill>
              <a:latin typeface="Arial"/>
              <a:ea typeface="Arial"/>
              <a:cs typeface="Arial"/>
              <a:sym typeface="Arial"/>
            </a:endParaRPr>
          </a:p>
        </p:txBody>
      </p:sp>
      <p:sp>
        <p:nvSpPr>
          <p:cNvPr id="365" name="Google Shape;365;p21"/>
          <p:cNvSpPr/>
          <p:nvPr/>
        </p:nvSpPr>
        <p:spPr>
          <a:xfrm>
            <a:off x="1479175" y="1233971"/>
            <a:ext cx="513300" cy="513300"/>
          </a:xfrm>
          <a:prstGeom prst="ellipse">
            <a:avLst/>
          </a:prstGeom>
          <a:solidFill>
            <a:srgbClr val="34A85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1</a:t>
            </a:r>
            <a:endParaRPr b="0" i="0" sz="2200" u="none" cap="none" strike="noStrike">
              <a:solidFill>
                <a:srgbClr val="FFFFFF"/>
              </a:solidFill>
              <a:latin typeface="Arial"/>
              <a:ea typeface="Arial"/>
              <a:cs typeface="Arial"/>
              <a:sym typeface="Arial"/>
            </a:endParaRPr>
          </a:p>
        </p:txBody>
      </p:sp>
      <p:sp>
        <p:nvSpPr>
          <p:cNvPr id="366" name="Google Shape;366;p21"/>
          <p:cNvSpPr/>
          <p:nvPr/>
        </p:nvSpPr>
        <p:spPr>
          <a:xfrm>
            <a:off x="4136775" y="1233971"/>
            <a:ext cx="513300" cy="513300"/>
          </a:xfrm>
          <a:prstGeom prst="ellipse">
            <a:avLst/>
          </a:prstGeom>
          <a:solidFill>
            <a:srgbClr val="34A85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2</a:t>
            </a:r>
            <a:endParaRPr b="0" i="0" sz="2200" u="none" cap="none" strike="noStrike">
              <a:solidFill>
                <a:srgbClr val="FFFFFF"/>
              </a:solidFill>
              <a:latin typeface="Arial"/>
              <a:ea typeface="Arial"/>
              <a:cs typeface="Arial"/>
              <a:sym typeface="Arial"/>
            </a:endParaRPr>
          </a:p>
        </p:txBody>
      </p:sp>
      <p:sp>
        <p:nvSpPr>
          <p:cNvPr id="367" name="Google Shape;367;p21"/>
          <p:cNvSpPr/>
          <p:nvPr/>
        </p:nvSpPr>
        <p:spPr>
          <a:xfrm>
            <a:off x="6794375" y="1233971"/>
            <a:ext cx="513300" cy="513300"/>
          </a:xfrm>
          <a:prstGeom prst="ellipse">
            <a:avLst/>
          </a:prstGeom>
          <a:solidFill>
            <a:srgbClr val="34A85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3</a:t>
            </a:r>
            <a:endParaRPr b="0" i="0" sz="2200" u="none" cap="none" strike="noStrike">
              <a:solidFill>
                <a:srgbClr val="FFFFF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F6368"/>
        </a:solidFill>
      </p:bgPr>
    </p:bg>
    <p:spTree>
      <p:nvGrpSpPr>
        <p:cNvPr id="371" name="Shape 371"/>
        <p:cNvGrpSpPr/>
        <p:nvPr/>
      </p:nvGrpSpPr>
      <p:grpSpPr>
        <a:xfrm>
          <a:off x="0" y="0"/>
          <a:ext cx="0" cy="0"/>
          <a:chOff x="0" y="0"/>
          <a:chExt cx="0" cy="0"/>
        </a:xfrm>
      </p:grpSpPr>
      <p:sp>
        <p:nvSpPr>
          <p:cNvPr id="372" name="Google Shape;372;p22"/>
          <p:cNvSpPr txBox="1"/>
          <p:nvPr/>
        </p:nvSpPr>
        <p:spPr>
          <a:xfrm>
            <a:off x="3721275" y="2210100"/>
            <a:ext cx="2275500" cy="723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Takeaways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Next steps</a:t>
            </a:r>
            <a:endParaRPr b="0" i="0" sz="1400" u="none" cap="none" strike="noStrike">
              <a:solidFill>
                <a:srgbClr val="FFFFFF"/>
              </a:solidFill>
              <a:latin typeface="Open Sans"/>
              <a:ea typeface="Open Sans"/>
              <a:cs typeface="Open Sans"/>
              <a:sym typeface="Open Sans"/>
            </a:endParaRPr>
          </a:p>
        </p:txBody>
      </p:sp>
      <p:sp>
        <p:nvSpPr>
          <p:cNvPr id="373" name="Google Shape;373;p22"/>
          <p:cNvSpPr txBox="1"/>
          <p:nvPr/>
        </p:nvSpPr>
        <p:spPr>
          <a:xfrm>
            <a:off x="-468875" y="2294700"/>
            <a:ext cx="3704400" cy="5541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Going forward</a:t>
            </a:r>
            <a:endParaRPr b="0" i="0" sz="2400" u="none" cap="none" strike="noStrike">
              <a:solidFill>
                <a:srgbClr val="FFFFFF"/>
              </a:solidFill>
              <a:latin typeface="Open Sans"/>
              <a:ea typeface="Open Sans"/>
              <a:cs typeface="Open Sans"/>
              <a:sym typeface="Open Sans"/>
            </a:endParaRPr>
          </a:p>
        </p:txBody>
      </p:sp>
      <p:cxnSp>
        <p:nvCxnSpPr>
          <p:cNvPr id="374" name="Google Shape;374;p22"/>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3"/>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Takeaways</a:t>
            </a:r>
            <a:endParaRPr b="0" i="0" sz="2400" u="none" cap="none" strike="noStrike">
              <a:solidFill>
                <a:srgbClr val="5F6368"/>
              </a:solidFill>
              <a:latin typeface="Open Sans"/>
              <a:ea typeface="Open Sans"/>
              <a:cs typeface="Open Sans"/>
              <a:sym typeface="Open Sans"/>
            </a:endParaRPr>
          </a:p>
        </p:txBody>
      </p:sp>
      <p:sp>
        <p:nvSpPr>
          <p:cNvPr id="380" name="Google Shape;380;p23"/>
          <p:cNvSpPr txBox="1"/>
          <p:nvPr/>
        </p:nvSpPr>
        <p:spPr>
          <a:xfrm>
            <a:off x="539600" y="2237975"/>
            <a:ext cx="3446100" cy="3000791"/>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SemiBold"/>
                <a:ea typeface="Open Sans SemiBold"/>
                <a:cs typeface="Open Sans SemiBold"/>
                <a:sym typeface="Open Sans SemiBold"/>
              </a:rPr>
              <a:t>Impact: </a:t>
            </a:r>
            <a:endParaRPr b="0" i="0" sz="1400" u="none" cap="none" strike="noStrike">
              <a:solidFill>
                <a:srgbClr val="5F6368"/>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The karate app give users a low stress environment for all ages, making it personable for all customers.</a:t>
            </a:r>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One quote from peer feedback:</a:t>
            </a:r>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      “The app looks great very vibrate colors and the animations are great. I love the pictures you added and the ability to zoom in the class details.</a:t>
            </a:r>
            <a:endParaRPr b="1" i="0" sz="1200" u="none" cap="none" strike="noStrike">
              <a:solidFill>
                <a:srgbClr val="1967D2"/>
              </a:solidFill>
              <a:latin typeface="Open Sans"/>
              <a:ea typeface="Open Sans"/>
              <a:cs typeface="Open Sans"/>
              <a:sym typeface="Open Sans"/>
            </a:endParaRPr>
          </a:p>
        </p:txBody>
      </p:sp>
      <p:sp>
        <p:nvSpPr>
          <p:cNvPr id="381" name="Google Shape;381;p23"/>
          <p:cNvSpPr/>
          <p:nvPr/>
        </p:nvSpPr>
        <p:spPr>
          <a:xfrm>
            <a:off x="539600" y="1534000"/>
            <a:ext cx="513300" cy="513300"/>
          </a:xfrm>
          <a:prstGeom prst="ellipse">
            <a:avLst/>
          </a:pr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3"/>
          <p:cNvSpPr txBox="1"/>
          <p:nvPr/>
        </p:nvSpPr>
        <p:spPr>
          <a:xfrm>
            <a:off x="4495800" y="2237975"/>
            <a:ext cx="3446100" cy="1892796"/>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SemiBold"/>
                <a:ea typeface="Open Sans SemiBold"/>
                <a:cs typeface="Open Sans SemiBold"/>
                <a:sym typeface="Open Sans SemiBold"/>
              </a:rPr>
              <a:t>What I learned:</a:t>
            </a:r>
            <a:endParaRPr b="0" i="0" sz="1400" u="none" cap="none" strike="noStrike">
              <a:solidFill>
                <a:srgbClr val="5F6368"/>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During the designing process of the karate app, I learn quickly that my idea were great but after the first usability process I learned that there are key things to keep in mind and to add to help the user flow become flawless. </a:t>
            </a:r>
            <a:endParaRPr b="1" i="0" sz="1200" u="none" cap="none" strike="noStrike">
              <a:solidFill>
                <a:srgbClr val="4285F4"/>
              </a:solidFill>
              <a:latin typeface="Open Sans"/>
              <a:ea typeface="Open Sans"/>
              <a:cs typeface="Open Sans"/>
              <a:sym typeface="Open Sans"/>
            </a:endParaRPr>
          </a:p>
        </p:txBody>
      </p:sp>
      <p:sp>
        <p:nvSpPr>
          <p:cNvPr id="383" name="Google Shape;383;p23"/>
          <p:cNvSpPr/>
          <p:nvPr/>
        </p:nvSpPr>
        <p:spPr>
          <a:xfrm>
            <a:off x="4495800" y="1534000"/>
            <a:ext cx="513300" cy="513300"/>
          </a:xfrm>
          <a:prstGeom prst="ellipse">
            <a:avLst/>
          </a:pr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3"/>
          <p:cNvSpPr/>
          <p:nvPr/>
        </p:nvSpPr>
        <p:spPr>
          <a:xfrm>
            <a:off x="679050" y="1660250"/>
            <a:ext cx="234394" cy="260801"/>
          </a:xfrm>
          <a:custGeom>
            <a:rect b="b" l="l" r="r" t="t"/>
            <a:pathLst>
              <a:path extrusionOk="0" h="1045" w="941">
                <a:moveTo>
                  <a:pt x="833" y="105"/>
                </a:moveTo>
                <a:lnTo>
                  <a:pt x="616" y="105"/>
                </a:lnTo>
                <a:cubicBezTo>
                  <a:pt x="593" y="45"/>
                  <a:pt x="536" y="0"/>
                  <a:pt x="469" y="0"/>
                </a:cubicBezTo>
                <a:cubicBezTo>
                  <a:pt x="401" y="0"/>
                  <a:pt x="345" y="45"/>
                  <a:pt x="322" y="105"/>
                </a:cubicBezTo>
                <a:lnTo>
                  <a:pt x="105" y="105"/>
                </a:lnTo>
                <a:cubicBezTo>
                  <a:pt x="48" y="105"/>
                  <a:pt x="0" y="153"/>
                  <a:pt x="0" y="209"/>
                </a:cubicBezTo>
                <a:lnTo>
                  <a:pt x="0" y="940"/>
                </a:lnTo>
                <a:cubicBezTo>
                  <a:pt x="0" y="997"/>
                  <a:pt x="48" y="1044"/>
                  <a:pt x="105" y="1044"/>
                </a:cubicBezTo>
                <a:lnTo>
                  <a:pt x="836" y="1044"/>
                </a:lnTo>
                <a:cubicBezTo>
                  <a:pt x="892" y="1044"/>
                  <a:pt x="940" y="997"/>
                  <a:pt x="940" y="940"/>
                </a:cubicBezTo>
                <a:lnTo>
                  <a:pt x="940" y="209"/>
                </a:lnTo>
                <a:cubicBezTo>
                  <a:pt x="937" y="153"/>
                  <a:pt x="889" y="105"/>
                  <a:pt x="833" y="105"/>
                </a:cubicBezTo>
                <a:close/>
                <a:moveTo>
                  <a:pt x="466" y="105"/>
                </a:moveTo>
                <a:cubicBezTo>
                  <a:pt x="494" y="105"/>
                  <a:pt x="520" y="127"/>
                  <a:pt x="520" y="158"/>
                </a:cubicBezTo>
                <a:cubicBezTo>
                  <a:pt x="520" y="187"/>
                  <a:pt x="497" y="212"/>
                  <a:pt x="466" y="212"/>
                </a:cubicBezTo>
                <a:cubicBezTo>
                  <a:pt x="435" y="212"/>
                  <a:pt x="412" y="189"/>
                  <a:pt x="412" y="158"/>
                </a:cubicBezTo>
                <a:cubicBezTo>
                  <a:pt x="415" y="127"/>
                  <a:pt x="438" y="105"/>
                  <a:pt x="466" y="105"/>
                </a:cubicBezTo>
                <a:close/>
                <a:moveTo>
                  <a:pt x="362" y="836"/>
                </a:moveTo>
                <a:lnTo>
                  <a:pt x="153" y="627"/>
                </a:lnTo>
                <a:lnTo>
                  <a:pt x="226" y="553"/>
                </a:lnTo>
                <a:lnTo>
                  <a:pt x="362" y="689"/>
                </a:lnTo>
                <a:lnTo>
                  <a:pt x="706" y="345"/>
                </a:lnTo>
                <a:lnTo>
                  <a:pt x="779" y="418"/>
                </a:lnTo>
                <a:lnTo>
                  <a:pt x="362" y="8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85" name="Google Shape;385;p23"/>
          <p:cNvGrpSpPr/>
          <p:nvPr/>
        </p:nvGrpSpPr>
        <p:grpSpPr>
          <a:xfrm>
            <a:off x="4605678" y="1676963"/>
            <a:ext cx="293543" cy="227362"/>
            <a:chOff x="420350" y="238125"/>
            <a:chExt cx="6779275" cy="5238750"/>
          </a:xfrm>
        </p:grpSpPr>
        <p:sp>
          <p:nvSpPr>
            <p:cNvPr id="386" name="Google Shape;386;p23"/>
            <p:cNvSpPr/>
            <p:nvPr/>
          </p:nvSpPr>
          <p:spPr>
            <a:xfrm>
              <a:off x="420350" y="238125"/>
              <a:ext cx="6779275" cy="5238750"/>
            </a:xfrm>
            <a:custGeom>
              <a:rect b="b" l="l" r="r" t="t"/>
              <a:pathLst>
                <a:path extrusionOk="0" h="209550" w="271171">
                  <a:moveTo>
                    <a:pt x="203423" y="24684"/>
                  </a:moveTo>
                  <a:lnTo>
                    <a:pt x="208928" y="24773"/>
                  </a:lnTo>
                  <a:lnTo>
                    <a:pt x="214433" y="25039"/>
                  </a:lnTo>
                  <a:lnTo>
                    <a:pt x="219938" y="25483"/>
                  </a:lnTo>
                  <a:lnTo>
                    <a:pt x="225443" y="26105"/>
                  </a:lnTo>
                  <a:lnTo>
                    <a:pt x="228107" y="26549"/>
                  </a:lnTo>
                  <a:lnTo>
                    <a:pt x="230859" y="26993"/>
                  </a:lnTo>
                  <a:lnTo>
                    <a:pt x="233523" y="27437"/>
                  </a:lnTo>
                  <a:lnTo>
                    <a:pt x="236187" y="28058"/>
                  </a:lnTo>
                  <a:lnTo>
                    <a:pt x="238762" y="28680"/>
                  </a:lnTo>
                  <a:lnTo>
                    <a:pt x="241426" y="29301"/>
                  </a:lnTo>
                  <a:lnTo>
                    <a:pt x="244001" y="30012"/>
                  </a:lnTo>
                  <a:lnTo>
                    <a:pt x="246576" y="30811"/>
                  </a:lnTo>
                  <a:lnTo>
                    <a:pt x="246576" y="172612"/>
                  </a:lnTo>
                  <a:lnTo>
                    <a:pt x="244001" y="171813"/>
                  </a:lnTo>
                  <a:lnTo>
                    <a:pt x="241426" y="171103"/>
                  </a:lnTo>
                  <a:lnTo>
                    <a:pt x="238762" y="170393"/>
                  </a:lnTo>
                  <a:lnTo>
                    <a:pt x="236187" y="169771"/>
                  </a:lnTo>
                  <a:lnTo>
                    <a:pt x="233523" y="169238"/>
                  </a:lnTo>
                  <a:lnTo>
                    <a:pt x="230859" y="168706"/>
                  </a:lnTo>
                  <a:lnTo>
                    <a:pt x="228107" y="168262"/>
                  </a:lnTo>
                  <a:lnTo>
                    <a:pt x="225443" y="167906"/>
                  </a:lnTo>
                  <a:lnTo>
                    <a:pt x="219938" y="167196"/>
                  </a:lnTo>
                  <a:lnTo>
                    <a:pt x="214433" y="166752"/>
                  </a:lnTo>
                  <a:lnTo>
                    <a:pt x="208928" y="166486"/>
                  </a:lnTo>
                  <a:lnTo>
                    <a:pt x="203423" y="166397"/>
                  </a:lnTo>
                  <a:lnTo>
                    <a:pt x="199338" y="166486"/>
                  </a:lnTo>
                  <a:lnTo>
                    <a:pt x="195165" y="166752"/>
                  </a:lnTo>
                  <a:lnTo>
                    <a:pt x="190814" y="167196"/>
                  </a:lnTo>
                  <a:lnTo>
                    <a:pt x="186286" y="167818"/>
                  </a:lnTo>
                  <a:lnTo>
                    <a:pt x="181757" y="168617"/>
                  </a:lnTo>
                  <a:lnTo>
                    <a:pt x="177140" y="169505"/>
                  </a:lnTo>
                  <a:lnTo>
                    <a:pt x="172523" y="170570"/>
                  </a:lnTo>
                  <a:lnTo>
                    <a:pt x="167906" y="171724"/>
                  </a:lnTo>
                  <a:lnTo>
                    <a:pt x="163289" y="173056"/>
                  </a:lnTo>
                  <a:lnTo>
                    <a:pt x="158849" y="174477"/>
                  </a:lnTo>
                  <a:lnTo>
                    <a:pt x="154498" y="175986"/>
                  </a:lnTo>
                  <a:lnTo>
                    <a:pt x="150236" y="177585"/>
                  </a:lnTo>
                  <a:lnTo>
                    <a:pt x="146241" y="179272"/>
                  </a:lnTo>
                  <a:lnTo>
                    <a:pt x="142422" y="181136"/>
                  </a:lnTo>
                  <a:lnTo>
                    <a:pt x="138871" y="183001"/>
                  </a:lnTo>
                  <a:lnTo>
                    <a:pt x="135586" y="184866"/>
                  </a:lnTo>
                  <a:lnTo>
                    <a:pt x="135586" y="43153"/>
                  </a:lnTo>
                  <a:lnTo>
                    <a:pt x="138871" y="41200"/>
                  </a:lnTo>
                  <a:lnTo>
                    <a:pt x="142422" y="39335"/>
                  </a:lnTo>
                  <a:lnTo>
                    <a:pt x="146241" y="37559"/>
                  </a:lnTo>
                  <a:lnTo>
                    <a:pt x="150236" y="35783"/>
                  </a:lnTo>
                  <a:lnTo>
                    <a:pt x="154498" y="34185"/>
                  </a:lnTo>
                  <a:lnTo>
                    <a:pt x="158849" y="32676"/>
                  </a:lnTo>
                  <a:lnTo>
                    <a:pt x="163289" y="31255"/>
                  </a:lnTo>
                  <a:lnTo>
                    <a:pt x="167906" y="29923"/>
                  </a:lnTo>
                  <a:lnTo>
                    <a:pt x="172523" y="28769"/>
                  </a:lnTo>
                  <a:lnTo>
                    <a:pt x="177140" y="27703"/>
                  </a:lnTo>
                  <a:lnTo>
                    <a:pt x="181757" y="26815"/>
                  </a:lnTo>
                  <a:lnTo>
                    <a:pt x="186286" y="26016"/>
                  </a:lnTo>
                  <a:lnTo>
                    <a:pt x="190814" y="25483"/>
                  </a:lnTo>
                  <a:lnTo>
                    <a:pt x="195165" y="25039"/>
                  </a:lnTo>
                  <a:lnTo>
                    <a:pt x="199338" y="24773"/>
                  </a:lnTo>
                  <a:lnTo>
                    <a:pt x="203423" y="24684"/>
                  </a:lnTo>
                  <a:close/>
                  <a:moveTo>
                    <a:pt x="67748" y="0"/>
                  </a:moveTo>
                  <a:lnTo>
                    <a:pt x="63220" y="89"/>
                  </a:lnTo>
                  <a:lnTo>
                    <a:pt x="58692" y="266"/>
                  </a:lnTo>
                  <a:lnTo>
                    <a:pt x="54163" y="533"/>
                  </a:lnTo>
                  <a:lnTo>
                    <a:pt x="49546" y="977"/>
                  </a:lnTo>
                  <a:lnTo>
                    <a:pt x="45018" y="1509"/>
                  </a:lnTo>
                  <a:lnTo>
                    <a:pt x="40489" y="2220"/>
                  </a:lnTo>
                  <a:lnTo>
                    <a:pt x="35961" y="3108"/>
                  </a:lnTo>
                  <a:lnTo>
                    <a:pt x="31610" y="4173"/>
                  </a:lnTo>
                  <a:lnTo>
                    <a:pt x="27259" y="5328"/>
                  </a:lnTo>
                  <a:lnTo>
                    <a:pt x="22908" y="6659"/>
                  </a:lnTo>
                  <a:lnTo>
                    <a:pt x="18824" y="8169"/>
                  </a:lnTo>
                  <a:lnTo>
                    <a:pt x="16782" y="8968"/>
                  </a:lnTo>
                  <a:lnTo>
                    <a:pt x="14739" y="9856"/>
                  </a:lnTo>
                  <a:lnTo>
                    <a:pt x="12786" y="10744"/>
                  </a:lnTo>
                  <a:lnTo>
                    <a:pt x="10833" y="11721"/>
                  </a:lnTo>
                  <a:lnTo>
                    <a:pt x="8879" y="12697"/>
                  </a:lnTo>
                  <a:lnTo>
                    <a:pt x="7015" y="13763"/>
                  </a:lnTo>
                  <a:lnTo>
                    <a:pt x="5239" y="14917"/>
                  </a:lnTo>
                  <a:lnTo>
                    <a:pt x="3463" y="16071"/>
                  </a:lnTo>
                  <a:lnTo>
                    <a:pt x="1687" y="17226"/>
                  </a:lnTo>
                  <a:lnTo>
                    <a:pt x="0" y="18469"/>
                  </a:lnTo>
                  <a:lnTo>
                    <a:pt x="0" y="199073"/>
                  </a:lnTo>
                  <a:lnTo>
                    <a:pt x="0" y="199694"/>
                  </a:lnTo>
                  <a:lnTo>
                    <a:pt x="89" y="200227"/>
                  </a:lnTo>
                  <a:lnTo>
                    <a:pt x="266" y="200760"/>
                  </a:lnTo>
                  <a:lnTo>
                    <a:pt x="533" y="201381"/>
                  </a:lnTo>
                  <a:lnTo>
                    <a:pt x="799" y="201914"/>
                  </a:lnTo>
                  <a:lnTo>
                    <a:pt x="1154" y="202358"/>
                  </a:lnTo>
                  <a:lnTo>
                    <a:pt x="1865" y="203335"/>
                  </a:lnTo>
                  <a:lnTo>
                    <a:pt x="2841" y="204134"/>
                  </a:lnTo>
                  <a:lnTo>
                    <a:pt x="3374" y="204400"/>
                  </a:lnTo>
                  <a:lnTo>
                    <a:pt x="3907" y="204755"/>
                  </a:lnTo>
                  <a:lnTo>
                    <a:pt x="4440" y="204933"/>
                  </a:lnTo>
                  <a:lnTo>
                    <a:pt x="4972" y="205110"/>
                  </a:lnTo>
                  <a:lnTo>
                    <a:pt x="5594" y="205199"/>
                  </a:lnTo>
                  <a:lnTo>
                    <a:pt x="6127" y="205288"/>
                  </a:lnTo>
                  <a:lnTo>
                    <a:pt x="6571" y="205199"/>
                  </a:lnTo>
                  <a:lnTo>
                    <a:pt x="7015" y="205110"/>
                  </a:lnTo>
                  <a:lnTo>
                    <a:pt x="7725" y="204933"/>
                  </a:lnTo>
                  <a:lnTo>
                    <a:pt x="8435" y="204755"/>
                  </a:lnTo>
                  <a:lnTo>
                    <a:pt x="8790" y="204666"/>
                  </a:lnTo>
                  <a:lnTo>
                    <a:pt x="9234" y="204666"/>
                  </a:lnTo>
                  <a:lnTo>
                    <a:pt x="12431" y="203157"/>
                  </a:lnTo>
                  <a:lnTo>
                    <a:pt x="15805" y="201736"/>
                  </a:lnTo>
                  <a:lnTo>
                    <a:pt x="19268" y="200404"/>
                  </a:lnTo>
                  <a:lnTo>
                    <a:pt x="22908" y="199161"/>
                  </a:lnTo>
                  <a:lnTo>
                    <a:pt x="26549" y="197918"/>
                  </a:lnTo>
                  <a:lnTo>
                    <a:pt x="30367" y="196853"/>
                  </a:lnTo>
                  <a:lnTo>
                    <a:pt x="34185" y="195787"/>
                  </a:lnTo>
                  <a:lnTo>
                    <a:pt x="38003" y="194810"/>
                  </a:lnTo>
                  <a:lnTo>
                    <a:pt x="41910" y="194011"/>
                  </a:lnTo>
                  <a:lnTo>
                    <a:pt x="45817" y="193212"/>
                  </a:lnTo>
                  <a:lnTo>
                    <a:pt x="49635" y="192591"/>
                  </a:lnTo>
                  <a:lnTo>
                    <a:pt x="53453" y="192058"/>
                  </a:lnTo>
                  <a:lnTo>
                    <a:pt x="57182" y="191614"/>
                  </a:lnTo>
                  <a:lnTo>
                    <a:pt x="60823" y="191348"/>
                  </a:lnTo>
                  <a:lnTo>
                    <a:pt x="64374" y="191170"/>
                  </a:lnTo>
                  <a:lnTo>
                    <a:pt x="67748" y="191081"/>
                  </a:lnTo>
                  <a:lnTo>
                    <a:pt x="72277" y="191170"/>
                  </a:lnTo>
                  <a:lnTo>
                    <a:pt x="76894" y="191348"/>
                  </a:lnTo>
                  <a:lnTo>
                    <a:pt x="81422" y="191614"/>
                  </a:lnTo>
                  <a:lnTo>
                    <a:pt x="86040" y="192058"/>
                  </a:lnTo>
                  <a:lnTo>
                    <a:pt x="90568" y="192591"/>
                  </a:lnTo>
                  <a:lnTo>
                    <a:pt x="95096" y="193390"/>
                  </a:lnTo>
                  <a:lnTo>
                    <a:pt x="99536" y="194189"/>
                  </a:lnTo>
                  <a:lnTo>
                    <a:pt x="103976" y="195254"/>
                  </a:lnTo>
                  <a:lnTo>
                    <a:pt x="108326" y="196409"/>
                  </a:lnTo>
                  <a:lnTo>
                    <a:pt x="112588" y="197741"/>
                  </a:lnTo>
                  <a:lnTo>
                    <a:pt x="116762" y="199250"/>
                  </a:lnTo>
                  <a:lnTo>
                    <a:pt x="118804" y="200049"/>
                  </a:lnTo>
                  <a:lnTo>
                    <a:pt x="120846" y="200937"/>
                  </a:lnTo>
                  <a:lnTo>
                    <a:pt x="122799" y="201825"/>
                  </a:lnTo>
                  <a:lnTo>
                    <a:pt x="124753" y="202802"/>
                  </a:lnTo>
                  <a:lnTo>
                    <a:pt x="126618" y="203867"/>
                  </a:lnTo>
                  <a:lnTo>
                    <a:pt x="128482" y="204844"/>
                  </a:lnTo>
                  <a:lnTo>
                    <a:pt x="130347" y="205998"/>
                  </a:lnTo>
                  <a:lnTo>
                    <a:pt x="132123" y="207153"/>
                  </a:lnTo>
                  <a:lnTo>
                    <a:pt x="133898" y="208307"/>
                  </a:lnTo>
                  <a:lnTo>
                    <a:pt x="135586" y="209550"/>
                  </a:lnTo>
                  <a:lnTo>
                    <a:pt x="138871" y="207597"/>
                  </a:lnTo>
                  <a:lnTo>
                    <a:pt x="142422" y="205732"/>
                  </a:lnTo>
                  <a:lnTo>
                    <a:pt x="146241" y="203956"/>
                  </a:lnTo>
                  <a:lnTo>
                    <a:pt x="150236" y="202269"/>
                  </a:lnTo>
                  <a:lnTo>
                    <a:pt x="154498" y="200671"/>
                  </a:lnTo>
                  <a:lnTo>
                    <a:pt x="158849" y="199073"/>
                  </a:lnTo>
                  <a:lnTo>
                    <a:pt x="163289" y="197652"/>
                  </a:lnTo>
                  <a:lnTo>
                    <a:pt x="167906" y="196409"/>
                  </a:lnTo>
                  <a:lnTo>
                    <a:pt x="172523" y="195166"/>
                  </a:lnTo>
                  <a:lnTo>
                    <a:pt x="177140" y="194189"/>
                  </a:lnTo>
                  <a:lnTo>
                    <a:pt x="181757" y="193212"/>
                  </a:lnTo>
                  <a:lnTo>
                    <a:pt x="186286" y="192502"/>
                  </a:lnTo>
                  <a:lnTo>
                    <a:pt x="190814" y="191880"/>
                  </a:lnTo>
                  <a:lnTo>
                    <a:pt x="195165" y="191436"/>
                  </a:lnTo>
                  <a:lnTo>
                    <a:pt x="199338" y="191170"/>
                  </a:lnTo>
                  <a:lnTo>
                    <a:pt x="203423" y="191081"/>
                  </a:lnTo>
                  <a:lnTo>
                    <a:pt x="207241" y="191081"/>
                  </a:lnTo>
                  <a:lnTo>
                    <a:pt x="211059" y="191259"/>
                  </a:lnTo>
                  <a:lnTo>
                    <a:pt x="214877" y="191436"/>
                  </a:lnTo>
                  <a:lnTo>
                    <a:pt x="218695" y="191792"/>
                  </a:lnTo>
                  <a:lnTo>
                    <a:pt x="222513" y="192235"/>
                  </a:lnTo>
                  <a:lnTo>
                    <a:pt x="226331" y="192768"/>
                  </a:lnTo>
                  <a:lnTo>
                    <a:pt x="230060" y="193390"/>
                  </a:lnTo>
                  <a:lnTo>
                    <a:pt x="233790" y="194100"/>
                  </a:lnTo>
                  <a:lnTo>
                    <a:pt x="237519" y="194899"/>
                  </a:lnTo>
                  <a:lnTo>
                    <a:pt x="241159" y="195876"/>
                  </a:lnTo>
                  <a:lnTo>
                    <a:pt x="244800" y="196941"/>
                  </a:lnTo>
                  <a:lnTo>
                    <a:pt x="248351" y="198096"/>
                  </a:lnTo>
                  <a:lnTo>
                    <a:pt x="251903" y="199428"/>
                  </a:lnTo>
                  <a:lnTo>
                    <a:pt x="255277" y="200848"/>
                  </a:lnTo>
                  <a:lnTo>
                    <a:pt x="258651" y="202358"/>
                  </a:lnTo>
                  <a:lnTo>
                    <a:pt x="261937" y="204045"/>
                  </a:lnTo>
                  <a:lnTo>
                    <a:pt x="262736" y="204400"/>
                  </a:lnTo>
                  <a:lnTo>
                    <a:pt x="263446" y="204578"/>
                  </a:lnTo>
                  <a:lnTo>
                    <a:pt x="264156" y="204666"/>
                  </a:lnTo>
                  <a:lnTo>
                    <a:pt x="265044" y="204666"/>
                  </a:lnTo>
                  <a:lnTo>
                    <a:pt x="265577" y="204578"/>
                  </a:lnTo>
                  <a:lnTo>
                    <a:pt x="266199" y="204489"/>
                  </a:lnTo>
                  <a:lnTo>
                    <a:pt x="266731" y="204311"/>
                  </a:lnTo>
                  <a:lnTo>
                    <a:pt x="267264" y="204134"/>
                  </a:lnTo>
                  <a:lnTo>
                    <a:pt x="267797" y="203867"/>
                  </a:lnTo>
                  <a:lnTo>
                    <a:pt x="268330" y="203512"/>
                  </a:lnTo>
                  <a:lnTo>
                    <a:pt x="269306" y="202713"/>
                  </a:lnTo>
                  <a:lnTo>
                    <a:pt x="270017" y="201736"/>
                  </a:lnTo>
                  <a:lnTo>
                    <a:pt x="270372" y="201292"/>
                  </a:lnTo>
                  <a:lnTo>
                    <a:pt x="270638" y="200760"/>
                  </a:lnTo>
                  <a:lnTo>
                    <a:pt x="270905" y="200138"/>
                  </a:lnTo>
                  <a:lnTo>
                    <a:pt x="271082" y="199605"/>
                  </a:lnTo>
                  <a:lnTo>
                    <a:pt x="271171" y="199073"/>
                  </a:lnTo>
                  <a:lnTo>
                    <a:pt x="271171" y="198451"/>
                  </a:lnTo>
                  <a:lnTo>
                    <a:pt x="271171" y="18469"/>
                  </a:lnTo>
                  <a:lnTo>
                    <a:pt x="268418" y="16515"/>
                  </a:lnTo>
                  <a:lnTo>
                    <a:pt x="265488" y="14651"/>
                  </a:lnTo>
                  <a:lnTo>
                    <a:pt x="262558" y="12964"/>
                  </a:lnTo>
                  <a:lnTo>
                    <a:pt x="259539" y="11365"/>
                  </a:lnTo>
                  <a:lnTo>
                    <a:pt x="256432" y="9945"/>
                  </a:lnTo>
                  <a:lnTo>
                    <a:pt x="253235" y="8613"/>
                  </a:lnTo>
                  <a:lnTo>
                    <a:pt x="249950" y="7370"/>
                  </a:lnTo>
                  <a:lnTo>
                    <a:pt x="246576" y="6127"/>
                  </a:lnTo>
                  <a:lnTo>
                    <a:pt x="243912" y="5328"/>
                  </a:lnTo>
                  <a:lnTo>
                    <a:pt x="241337" y="4617"/>
                  </a:lnTo>
                  <a:lnTo>
                    <a:pt x="238673" y="3996"/>
                  </a:lnTo>
                  <a:lnTo>
                    <a:pt x="236009" y="3374"/>
                  </a:lnTo>
                  <a:lnTo>
                    <a:pt x="233346" y="2841"/>
                  </a:lnTo>
                  <a:lnTo>
                    <a:pt x="230682" y="2309"/>
                  </a:lnTo>
                  <a:lnTo>
                    <a:pt x="225266" y="1421"/>
                  </a:lnTo>
                  <a:lnTo>
                    <a:pt x="219760" y="799"/>
                  </a:lnTo>
                  <a:lnTo>
                    <a:pt x="214255" y="355"/>
                  </a:lnTo>
                  <a:lnTo>
                    <a:pt x="208839" y="89"/>
                  </a:lnTo>
                  <a:lnTo>
                    <a:pt x="203423" y="0"/>
                  </a:lnTo>
                  <a:lnTo>
                    <a:pt x="198894" y="89"/>
                  </a:lnTo>
                  <a:lnTo>
                    <a:pt x="194277" y="266"/>
                  </a:lnTo>
                  <a:lnTo>
                    <a:pt x="189749" y="533"/>
                  </a:lnTo>
                  <a:lnTo>
                    <a:pt x="185131" y="977"/>
                  </a:lnTo>
                  <a:lnTo>
                    <a:pt x="180603" y="1509"/>
                  </a:lnTo>
                  <a:lnTo>
                    <a:pt x="176075" y="2220"/>
                  </a:lnTo>
                  <a:lnTo>
                    <a:pt x="171635" y="3108"/>
                  </a:lnTo>
                  <a:lnTo>
                    <a:pt x="167195" y="4173"/>
                  </a:lnTo>
                  <a:lnTo>
                    <a:pt x="162845" y="5328"/>
                  </a:lnTo>
                  <a:lnTo>
                    <a:pt x="158583" y="6659"/>
                  </a:lnTo>
                  <a:lnTo>
                    <a:pt x="154409" y="8169"/>
                  </a:lnTo>
                  <a:lnTo>
                    <a:pt x="152367" y="8968"/>
                  </a:lnTo>
                  <a:lnTo>
                    <a:pt x="150325" y="9856"/>
                  </a:lnTo>
                  <a:lnTo>
                    <a:pt x="148372" y="10744"/>
                  </a:lnTo>
                  <a:lnTo>
                    <a:pt x="146418" y="11721"/>
                  </a:lnTo>
                  <a:lnTo>
                    <a:pt x="144554" y="12697"/>
                  </a:lnTo>
                  <a:lnTo>
                    <a:pt x="142689" y="13763"/>
                  </a:lnTo>
                  <a:lnTo>
                    <a:pt x="140824" y="14917"/>
                  </a:lnTo>
                  <a:lnTo>
                    <a:pt x="139048" y="16071"/>
                  </a:lnTo>
                  <a:lnTo>
                    <a:pt x="137273" y="17226"/>
                  </a:lnTo>
                  <a:lnTo>
                    <a:pt x="135586" y="18469"/>
                  </a:lnTo>
                  <a:lnTo>
                    <a:pt x="133898" y="17226"/>
                  </a:lnTo>
                  <a:lnTo>
                    <a:pt x="132123" y="16071"/>
                  </a:lnTo>
                  <a:lnTo>
                    <a:pt x="130347" y="14917"/>
                  </a:lnTo>
                  <a:lnTo>
                    <a:pt x="128482" y="13763"/>
                  </a:lnTo>
                  <a:lnTo>
                    <a:pt x="126618" y="12697"/>
                  </a:lnTo>
                  <a:lnTo>
                    <a:pt x="124753" y="11721"/>
                  </a:lnTo>
                  <a:lnTo>
                    <a:pt x="122799" y="10744"/>
                  </a:lnTo>
                  <a:lnTo>
                    <a:pt x="120846" y="9856"/>
                  </a:lnTo>
                  <a:lnTo>
                    <a:pt x="118804" y="8968"/>
                  </a:lnTo>
                  <a:lnTo>
                    <a:pt x="116762" y="8169"/>
                  </a:lnTo>
                  <a:lnTo>
                    <a:pt x="112588" y="6659"/>
                  </a:lnTo>
                  <a:lnTo>
                    <a:pt x="108326" y="5328"/>
                  </a:lnTo>
                  <a:lnTo>
                    <a:pt x="103976" y="4173"/>
                  </a:lnTo>
                  <a:lnTo>
                    <a:pt x="99536" y="3108"/>
                  </a:lnTo>
                  <a:lnTo>
                    <a:pt x="95096" y="2220"/>
                  </a:lnTo>
                  <a:lnTo>
                    <a:pt x="90568" y="1509"/>
                  </a:lnTo>
                  <a:lnTo>
                    <a:pt x="86040" y="977"/>
                  </a:lnTo>
                  <a:lnTo>
                    <a:pt x="81422" y="533"/>
                  </a:lnTo>
                  <a:lnTo>
                    <a:pt x="76894" y="266"/>
                  </a:lnTo>
                  <a:lnTo>
                    <a:pt x="72277" y="89"/>
                  </a:lnTo>
                  <a:lnTo>
                    <a:pt x="6774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3"/>
            <p:cNvSpPr/>
            <p:nvPr/>
          </p:nvSpPr>
          <p:spPr>
            <a:xfrm>
              <a:off x="4118525" y="1625500"/>
              <a:ext cx="2157675" cy="765850"/>
            </a:xfrm>
            <a:custGeom>
              <a:rect b="b" l="l" r="r" t="t"/>
              <a:pathLst>
                <a:path extrusionOk="0" h="30634" w="86307">
                  <a:moveTo>
                    <a:pt x="51589" y="0"/>
                  </a:moveTo>
                  <a:lnTo>
                    <a:pt x="47682" y="178"/>
                  </a:lnTo>
                  <a:lnTo>
                    <a:pt x="43864" y="355"/>
                  </a:lnTo>
                  <a:lnTo>
                    <a:pt x="40135" y="622"/>
                  </a:lnTo>
                  <a:lnTo>
                    <a:pt x="36405" y="977"/>
                  </a:lnTo>
                  <a:lnTo>
                    <a:pt x="32765" y="1421"/>
                  </a:lnTo>
                  <a:lnTo>
                    <a:pt x="29213" y="1954"/>
                  </a:lnTo>
                  <a:lnTo>
                    <a:pt x="25662" y="2575"/>
                  </a:lnTo>
                  <a:lnTo>
                    <a:pt x="22199" y="3286"/>
                  </a:lnTo>
                  <a:lnTo>
                    <a:pt x="18825" y="3996"/>
                  </a:lnTo>
                  <a:lnTo>
                    <a:pt x="15539" y="4884"/>
                  </a:lnTo>
                  <a:lnTo>
                    <a:pt x="12254" y="5772"/>
                  </a:lnTo>
                  <a:lnTo>
                    <a:pt x="9057" y="6748"/>
                  </a:lnTo>
                  <a:lnTo>
                    <a:pt x="5950" y="7814"/>
                  </a:lnTo>
                  <a:lnTo>
                    <a:pt x="2931" y="8968"/>
                  </a:lnTo>
                  <a:lnTo>
                    <a:pt x="1" y="10211"/>
                  </a:lnTo>
                  <a:lnTo>
                    <a:pt x="1" y="30634"/>
                  </a:lnTo>
                  <a:lnTo>
                    <a:pt x="2664" y="29213"/>
                  </a:lnTo>
                  <a:lnTo>
                    <a:pt x="5417" y="27881"/>
                  </a:lnTo>
                  <a:lnTo>
                    <a:pt x="8347" y="26638"/>
                  </a:lnTo>
                  <a:lnTo>
                    <a:pt x="11455" y="25395"/>
                  </a:lnTo>
                  <a:lnTo>
                    <a:pt x="14563" y="24329"/>
                  </a:lnTo>
                  <a:lnTo>
                    <a:pt x="17848" y="23353"/>
                  </a:lnTo>
                  <a:lnTo>
                    <a:pt x="21133" y="22465"/>
                  </a:lnTo>
                  <a:lnTo>
                    <a:pt x="24596" y="21577"/>
                  </a:lnTo>
                  <a:lnTo>
                    <a:pt x="28148" y="20866"/>
                  </a:lnTo>
                  <a:lnTo>
                    <a:pt x="31788" y="20245"/>
                  </a:lnTo>
                  <a:lnTo>
                    <a:pt x="35606" y="19712"/>
                  </a:lnTo>
                  <a:lnTo>
                    <a:pt x="39424" y="19268"/>
                  </a:lnTo>
                  <a:lnTo>
                    <a:pt x="43331" y="18913"/>
                  </a:lnTo>
                  <a:lnTo>
                    <a:pt x="47238" y="18647"/>
                  </a:lnTo>
                  <a:lnTo>
                    <a:pt x="51322" y="18469"/>
                  </a:lnTo>
                  <a:lnTo>
                    <a:pt x="59491" y="18469"/>
                  </a:lnTo>
                  <a:lnTo>
                    <a:pt x="63487" y="18647"/>
                  </a:lnTo>
                  <a:lnTo>
                    <a:pt x="67483" y="18913"/>
                  </a:lnTo>
                  <a:lnTo>
                    <a:pt x="71389" y="19268"/>
                  </a:lnTo>
                  <a:lnTo>
                    <a:pt x="75207" y="19712"/>
                  </a:lnTo>
                  <a:lnTo>
                    <a:pt x="79026" y="20245"/>
                  </a:lnTo>
                  <a:lnTo>
                    <a:pt x="82666" y="20955"/>
                  </a:lnTo>
                  <a:lnTo>
                    <a:pt x="86307" y="21666"/>
                  </a:lnTo>
                  <a:lnTo>
                    <a:pt x="86307" y="2930"/>
                  </a:lnTo>
                  <a:lnTo>
                    <a:pt x="82577" y="2309"/>
                  </a:lnTo>
                  <a:lnTo>
                    <a:pt x="78848" y="1687"/>
                  </a:lnTo>
                  <a:lnTo>
                    <a:pt x="75030" y="1155"/>
                  </a:lnTo>
                  <a:lnTo>
                    <a:pt x="71212" y="711"/>
                  </a:lnTo>
                  <a:lnTo>
                    <a:pt x="67305" y="444"/>
                  </a:lnTo>
                  <a:lnTo>
                    <a:pt x="63398" y="178"/>
                  </a:lnTo>
                  <a:lnTo>
                    <a:pt x="5940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3"/>
            <p:cNvSpPr/>
            <p:nvPr/>
          </p:nvSpPr>
          <p:spPr>
            <a:xfrm>
              <a:off x="4118525" y="2444600"/>
              <a:ext cx="2157675" cy="768075"/>
            </a:xfrm>
            <a:custGeom>
              <a:rect b="b" l="l" r="r" t="t"/>
              <a:pathLst>
                <a:path extrusionOk="0" h="30723" w="86307">
                  <a:moveTo>
                    <a:pt x="51589" y="1"/>
                  </a:moveTo>
                  <a:lnTo>
                    <a:pt x="47682" y="178"/>
                  </a:lnTo>
                  <a:lnTo>
                    <a:pt x="43864" y="356"/>
                  </a:lnTo>
                  <a:lnTo>
                    <a:pt x="40135" y="711"/>
                  </a:lnTo>
                  <a:lnTo>
                    <a:pt x="36405" y="1066"/>
                  </a:lnTo>
                  <a:lnTo>
                    <a:pt x="32765" y="1510"/>
                  </a:lnTo>
                  <a:lnTo>
                    <a:pt x="29213" y="2043"/>
                  </a:lnTo>
                  <a:lnTo>
                    <a:pt x="25662" y="2664"/>
                  </a:lnTo>
                  <a:lnTo>
                    <a:pt x="22199" y="3375"/>
                  </a:lnTo>
                  <a:lnTo>
                    <a:pt x="18825" y="4085"/>
                  </a:lnTo>
                  <a:lnTo>
                    <a:pt x="15539" y="4973"/>
                  </a:lnTo>
                  <a:lnTo>
                    <a:pt x="12254" y="5861"/>
                  </a:lnTo>
                  <a:lnTo>
                    <a:pt x="9057" y="6838"/>
                  </a:lnTo>
                  <a:lnTo>
                    <a:pt x="5950" y="7903"/>
                  </a:lnTo>
                  <a:lnTo>
                    <a:pt x="2931" y="9057"/>
                  </a:lnTo>
                  <a:lnTo>
                    <a:pt x="1" y="10212"/>
                  </a:lnTo>
                  <a:lnTo>
                    <a:pt x="1" y="30723"/>
                  </a:lnTo>
                  <a:lnTo>
                    <a:pt x="2664" y="29213"/>
                  </a:lnTo>
                  <a:lnTo>
                    <a:pt x="5417" y="27881"/>
                  </a:lnTo>
                  <a:lnTo>
                    <a:pt x="8347" y="26638"/>
                  </a:lnTo>
                  <a:lnTo>
                    <a:pt x="11455" y="25484"/>
                  </a:lnTo>
                  <a:lnTo>
                    <a:pt x="14563" y="24330"/>
                  </a:lnTo>
                  <a:lnTo>
                    <a:pt x="17848" y="23353"/>
                  </a:lnTo>
                  <a:lnTo>
                    <a:pt x="21133" y="22465"/>
                  </a:lnTo>
                  <a:lnTo>
                    <a:pt x="24596" y="21666"/>
                  </a:lnTo>
                  <a:lnTo>
                    <a:pt x="28148" y="20867"/>
                  </a:lnTo>
                  <a:lnTo>
                    <a:pt x="31788" y="20245"/>
                  </a:lnTo>
                  <a:lnTo>
                    <a:pt x="35606" y="19713"/>
                  </a:lnTo>
                  <a:lnTo>
                    <a:pt x="39424" y="19269"/>
                  </a:lnTo>
                  <a:lnTo>
                    <a:pt x="43331" y="18913"/>
                  </a:lnTo>
                  <a:lnTo>
                    <a:pt x="47238" y="18647"/>
                  </a:lnTo>
                  <a:lnTo>
                    <a:pt x="51322" y="18558"/>
                  </a:lnTo>
                  <a:lnTo>
                    <a:pt x="55496" y="18469"/>
                  </a:lnTo>
                  <a:lnTo>
                    <a:pt x="59491" y="18558"/>
                  </a:lnTo>
                  <a:lnTo>
                    <a:pt x="63487" y="18736"/>
                  </a:lnTo>
                  <a:lnTo>
                    <a:pt x="67483" y="18913"/>
                  </a:lnTo>
                  <a:lnTo>
                    <a:pt x="71389" y="19269"/>
                  </a:lnTo>
                  <a:lnTo>
                    <a:pt x="75207" y="19801"/>
                  </a:lnTo>
                  <a:lnTo>
                    <a:pt x="79026" y="20334"/>
                  </a:lnTo>
                  <a:lnTo>
                    <a:pt x="82666" y="20956"/>
                  </a:lnTo>
                  <a:lnTo>
                    <a:pt x="86307" y="21666"/>
                  </a:lnTo>
                  <a:lnTo>
                    <a:pt x="86307" y="2931"/>
                  </a:lnTo>
                  <a:lnTo>
                    <a:pt x="82577" y="2309"/>
                  </a:lnTo>
                  <a:lnTo>
                    <a:pt x="78848" y="1688"/>
                  </a:lnTo>
                  <a:lnTo>
                    <a:pt x="75030" y="1244"/>
                  </a:lnTo>
                  <a:lnTo>
                    <a:pt x="71212" y="800"/>
                  </a:lnTo>
                  <a:lnTo>
                    <a:pt x="67305" y="445"/>
                  </a:lnTo>
                  <a:lnTo>
                    <a:pt x="63398" y="178"/>
                  </a:lnTo>
                  <a:lnTo>
                    <a:pt x="59403" y="89"/>
                  </a:lnTo>
                  <a:lnTo>
                    <a:pt x="5549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3"/>
            <p:cNvSpPr/>
            <p:nvPr/>
          </p:nvSpPr>
          <p:spPr>
            <a:xfrm>
              <a:off x="4118525" y="3268150"/>
              <a:ext cx="2157675" cy="765850"/>
            </a:xfrm>
            <a:custGeom>
              <a:rect b="b" l="l" r="r" t="t"/>
              <a:pathLst>
                <a:path extrusionOk="0" h="30634" w="86307">
                  <a:moveTo>
                    <a:pt x="51589" y="1"/>
                  </a:moveTo>
                  <a:lnTo>
                    <a:pt x="47682" y="178"/>
                  </a:lnTo>
                  <a:lnTo>
                    <a:pt x="43864" y="356"/>
                  </a:lnTo>
                  <a:lnTo>
                    <a:pt x="40135" y="622"/>
                  </a:lnTo>
                  <a:lnTo>
                    <a:pt x="36405" y="977"/>
                  </a:lnTo>
                  <a:lnTo>
                    <a:pt x="32765" y="1421"/>
                  </a:lnTo>
                  <a:lnTo>
                    <a:pt x="29213" y="1954"/>
                  </a:lnTo>
                  <a:lnTo>
                    <a:pt x="25662" y="2576"/>
                  </a:lnTo>
                  <a:lnTo>
                    <a:pt x="22199" y="3286"/>
                  </a:lnTo>
                  <a:lnTo>
                    <a:pt x="18825" y="3996"/>
                  </a:lnTo>
                  <a:lnTo>
                    <a:pt x="15539" y="4884"/>
                  </a:lnTo>
                  <a:lnTo>
                    <a:pt x="12254" y="5772"/>
                  </a:lnTo>
                  <a:lnTo>
                    <a:pt x="9057" y="6749"/>
                  </a:lnTo>
                  <a:lnTo>
                    <a:pt x="5950" y="7814"/>
                  </a:lnTo>
                  <a:lnTo>
                    <a:pt x="2931" y="8969"/>
                  </a:lnTo>
                  <a:lnTo>
                    <a:pt x="1" y="10212"/>
                  </a:lnTo>
                  <a:lnTo>
                    <a:pt x="1" y="30634"/>
                  </a:lnTo>
                  <a:lnTo>
                    <a:pt x="2664" y="29213"/>
                  </a:lnTo>
                  <a:lnTo>
                    <a:pt x="5417" y="27881"/>
                  </a:lnTo>
                  <a:lnTo>
                    <a:pt x="8347" y="26638"/>
                  </a:lnTo>
                  <a:lnTo>
                    <a:pt x="11455" y="25395"/>
                  </a:lnTo>
                  <a:lnTo>
                    <a:pt x="14563" y="24330"/>
                  </a:lnTo>
                  <a:lnTo>
                    <a:pt x="17848" y="23353"/>
                  </a:lnTo>
                  <a:lnTo>
                    <a:pt x="21133" y="22465"/>
                  </a:lnTo>
                  <a:lnTo>
                    <a:pt x="24596" y="21577"/>
                  </a:lnTo>
                  <a:lnTo>
                    <a:pt x="28148" y="20867"/>
                  </a:lnTo>
                  <a:lnTo>
                    <a:pt x="31788" y="20245"/>
                  </a:lnTo>
                  <a:lnTo>
                    <a:pt x="35606" y="19713"/>
                  </a:lnTo>
                  <a:lnTo>
                    <a:pt x="39424" y="19269"/>
                  </a:lnTo>
                  <a:lnTo>
                    <a:pt x="43331" y="18913"/>
                  </a:lnTo>
                  <a:lnTo>
                    <a:pt x="47238" y="18647"/>
                  </a:lnTo>
                  <a:lnTo>
                    <a:pt x="51322" y="18469"/>
                  </a:lnTo>
                  <a:lnTo>
                    <a:pt x="55496" y="18469"/>
                  </a:lnTo>
                  <a:lnTo>
                    <a:pt x="59491" y="18558"/>
                  </a:lnTo>
                  <a:lnTo>
                    <a:pt x="63487" y="18647"/>
                  </a:lnTo>
                  <a:lnTo>
                    <a:pt x="67483" y="18913"/>
                  </a:lnTo>
                  <a:lnTo>
                    <a:pt x="71389" y="19269"/>
                  </a:lnTo>
                  <a:lnTo>
                    <a:pt x="75207" y="19713"/>
                  </a:lnTo>
                  <a:lnTo>
                    <a:pt x="79026" y="20245"/>
                  </a:lnTo>
                  <a:lnTo>
                    <a:pt x="82666" y="20956"/>
                  </a:lnTo>
                  <a:lnTo>
                    <a:pt x="86307" y="21666"/>
                  </a:lnTo>
                  <a:lnTo>
                    <a:pt x="86307" y="2931"/>
                  </a:lnTo>
                  <a:lnTo>
                    <a:pt x="82577" y="2220"/>
                  </a:lnTo>
                  <a:lnTo>
                    <a:pt x="78848" y="1599"/>
                  </a:lnTo>
                  <a:lnTo>
                    <a:pt x="75030" y="1155"/>
                  </a:lnTo>
                  <a:lnTo>
                    <a:pt x="71212" y="711"/>
                  </a:lnTo>
                  <a:lnTo>
                    <a:pt x="67305" y="356"/>
                  </a:lnTo>
                  <a:lnTo>
                    <a:pt x="63398" y="178"/>
                  </a:lnTo>
                  <a:lnTo>
                    <a:pt x="5940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4"/>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Next steps</a:t>
            </a:r>
            <a:endParaRPr b="0" i="0" sz="2400" u="none" cap="none" strike="noStrike">
              <a:solidFill>
                <a:srgbClr val="5F6368"/>
              </a:solidFill>
              <a:latin typeface="Open Sans"/>
              <a:ea typeface="Open Sans"/>
              <a:cs typeface="Open Sans"/>
              <a:sym typeface="Open Sans"/>
            </a:endParaRPr>
          </a:p>
        </p:txBody>
      </p:sp>
      <p:sp>
        <p:nvSpPr>
          <p:cNvPr id="395" name="Google Shape;395;p24"/>
          <p:cNvSpPr/>
          <p:nvPr/>
        </p:nvSpPr>
        <p:spPr>
          <a:xfrm>
            <a:off x="5176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4"/>
          <p:cNvSpPr txBox="1"/>
          <p:nvPr/>
        </p:nvSpPr>
        <p:spPr>
          <a:xfrm>
            <a:off x="711325" y="1917800"/>
            <a:ext cx="2049000" cy="1034099"/>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Run another round of usability studies to make sure all the pain points have been addressed.</a:t>
            </a:r>
            <a:endParaRPr b="0" i="0" sz="1200" u="none" cap="none" strike="noStrike">
              <a:solidFill>
                <a:srgbClr val="000000"/>
              </a:solidFill>
              <a:latin typeface="Arial"/>
              <a:ea typeface="Arial"/>
              <a:cs typeface="Arial"/>
              <a:sym typeface="Arial"/>
            </a:endParaRPr>
          </a:p>
        </p:txBody>
      </p:sp>
      <p:sp>
        <p:nvSpPr>
          <p:cNvPr id="397" name="Google Shape;397;p24"/>
          <p:cNvSpPr/>
          <p:nvPr/>
        </p:nvSpPr>
        <p:spPr>
          <a:xfrm>
            <a:off x="31752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4"/>
          <p:cNvSpPr txBox="1"/>
          <p:nvPr/>
        </p:nvSpPr>
        <p:spPr>
          <a:xfrm>
            <a:off x="3368925" y="1917800"/>
            <a:ext cx="2049000" cy="1034099"/>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Run another user research to determine any new areas that need improvement..</a:t>
            </a:r>
            <a:endParaRPr b="0" i="0" sz="1200" u="none" cap="none" strike="noStrike">
              <a:solidFill>
                <a:srgbClr val="000000"/>
              </a:solidFill>
              <a:latin typeface="Arial"/>
              <a:ea typeface="Arial"/>
              <a:cs typeface="Arial"/>
              <a:sym typeface="Arial"/>
            </a:endParaRPr>
          </a:p>
        </p:txBody>
      </p:sp>
      <p:sp>
        <p:nvSpPr>
          <p:cNvPr id="399" name="Google Shape;399;p24"/>
          <p:cNvSpPr/>
          <p:nvPr/>
        </p:nvSpPr>
        <p:spPr>
          <a:xfrm>
            <a:off x="58328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4"/>
          <p:cNvSpPr txBox="1"/>
          <p:nvPr/>
        </p:nvSpPr>
        <p:spPr>
          <a:xfrm>
            <a:off x="6026525" y="1917800"/>
            <a:ext cx="2049000" cy="100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lang="en" sz="1200">
                <a:solidFill>
                  <a:srgbClr val="5F6368"/>
                </a:solidFill>
                <a:latin typeface="Open Sans"/>
                <a:ea typeface="Open Sans"/>
                <a:cs typeface="Open Sans"/>
                <a:sym typeface="Open Sans"/>
              </a:rPr>
              <a:t>Adjust</a:t>
            </a:r>
            <a:r>
              <a:rPr b="0" i="0" lang="en" sz="1200" u="none" cap="none" strike="noStrike">
                <a:solidFill>
                  <a:srgbClr val="5F6368"/>
                </a:solidFill>
                <a:latin typeface="Open Sans"/>
                <a:ea typeface="Open Sans"/>
                <a:cs typeface="Open Sans"/>
                <a:sym typeface="Open Sans"/>
              </a:rPr>
              <a:t> the animations/speed between pages to make the app flow better.</a:t>
            </a:r>
            <a:endParaRPr b="0" i="0" sz="1200" u="none" cap="none" strike="noStrike">
              <a:solidFill>
                <a:srgbClr val="000000"/>
              </a:solidFill>
              <a:latin typeface="Arial"/>
              <a:ea typeface="Arial"/>
              <a:cs typeface="Arial"/>
              <a:sym typeface="Arial"/>
            </a:endParaRPr>
          </a:p>
        </p:txBody>
      </p:sp>
      <p:sp>
        <p:nvSpPr>
          <p:cNvPr id="401" name="Google Shape;401;p24"/>
          <p:cNvSpPr/>
          <p:nvPr/>
        </p:nvSpPr>
        <p:spPr>
          <a:xfrm>
            <a:off x="1479175" y="1187633"/>
            <a:ext cx="513300" cy="513300"/>
          </a:xfrm>
          <a:prstGeom prst="ellipse">
            <a:avLst/>
          </a:prstGeom>
          <a:solidFill>
            <a:srgbClr val="5F636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1</a:t>
            </a:r>
            <a:endParaRPr b="0" i="0" sz="2200" u="none" cap="none" strike="noStrike">
              <a:solidFill>
                <a:srgbClr val="FFFFFF"/>
              </a:solidFill>
              <a:latin typeface="Arial"/>
              <a:ea typeface="Arial"/>
              <a:cs typeface="Arial"/>
              <a:sym typeface="Arial"/>
            </a:endParaRPr>
          </a:p>
        </p:txBody>
      </p:sp>
      <p:sp>
        <p:nvSpPr>
          <p:cNvPr id="402" name="Google Shape;402;p24"/>
          <p:cNvSpPr/>
          <p:nvPr/>
        </p:nvSpPr>
        <p:spPr>
          <a:xfrm>
            <a:off x="4136775" y="1187633"/>
            <a:ext cx="513300" cy="513300"/>
          </a:xfrm>
          <a:prstGeom prst="ellipse">
            <a:avLst/>
          </a:prstGeom>
          <a:solidFill>
            <a:srgbClr val="5F636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2</a:t>
            </a:r>
            <a:endParaRPr b="0" i="0" sz="2200" u="none" cap="none" strike="noStrike">
              <a:solidFill>
                <a:srgbClr val="FFFFFF"/>
              </a:solidFill>
              <a:latin typeface="Arial"/>
              <a:ea typeface="Arial"/>
              <a:cs typeface="Arial"/>
              <a:sym typeface="Arial"/>
            </a:endParaRPr>
          </a:p>
        </p:txBody>
      </p:sp>
      <p:sp>
        <p:nvSpPr>
          <p:cNvPr id="403" name="Google Shape;403;p24"/>
          <p:cNvSpPr/>
          <p:nvPr/>
        </p:nvSpPr>
        <p:spPr>
          <a:xfrm>
            <a:off x="6794375" y="1187633"/>
            <a:ext cx="513300" cy="513300"/>
          </a:xfrm>
          <a:prstGeom prst="ellipse">
            <a:avLst/>
          </a:prstGeom>
          <a:solidFill>
            <a:srgbClr val="5F636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Arial"/>
                <a:ea typeface="Arial"/>
                <a:cs typeface="Arial"/>
                <a:sym typeface="Arial"/>
              </a:rPr>
              <a:t>3</a:t>
            </a:r>
            <a:endParaRPr b="0" i="0" sz="2200" u="none" cap="none" strike="noStrike">
              <a:solidFill>
                <a:srgbClr val="FFFFF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5"/>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Let’s connect!</a:t>
            </a:r>
            <a:endParaRPr b="0" i="0" sz="2400" u="none" cap="none" strike="noStrike">
              <a:solidFill>
                <a:srgbClr val="5F6368"/>
              </a:solidFill>
              <a:latin typeface="Open Sans"/>
              <a:ea typeface="Open Sans"/>
              <a:cs typeface="Open Sans"/>
              <a:sym typeface="Open Sans"/>
            </a:endParaRPr>
          </a:p>
        </p:txBody>
      </p:sp>
      <p:sp>
        <p:nvSpPr>
          <p:cNvPr id="409" name="Google Shape;409;p25"/>
          <p:cNvSpPr/>
          <p:nvPr/>
        </p:nvSpPr>
        <p:spPr>
          <a:xfrm>
            <a:off x="517675" y="1832019"/>
            <a:ext cx="7938900" cy="25104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5"/>
          <p:cNvSpPr txBox="1"/>
          <p:nvPr/>
        </p:nvSpPr>
        <p:spPr>
          <a:xfrm>
            <a:off x="919075" y="2461800"/>
            <a:ext cx="7136100" cy="1034099"/>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Thank you for your time reviewing my work on the Karate school’s app. Feel free to reach out, my contact information is provided below. </a:t>
            </a:r>
            <a:endParaRPr b="0" i="0" sz="1200" u="none" cap="none" strike="noStrike">
              <a:solidFill>
                <a:srgbClr val="5F6368"/>
              </a:solidFill>
              <a:latin typeface="Open Sans"/>
              <a:ea typeface="Open Sans"/>
              <a:cs typeface="Open Sans"/>
              <a:sym typeface="Open Sans"/>
            </a:endParaRPr>
          </a:p>
          <a:p>
            <a:pPr indent="0" lvl="0" marL="0" marR="0" rtl="0" algn="ctr">
              <a:lnSpc>
                <a:spcPct val="115000"/>
              </a:lnSpc>
              <a:spcBef>
                <a:spcPts val="0"/>
              </a:spcBef>
              <a:spcAft>
                <a:spcPts val="0"/>
              </a:spcAft>
              <a:buClr>
                <a:schemeClr val="dk1"/>
              </a:buClr>
              <a:buSzPts val="1100"/>
              <a:buFont typeface="Arial"/>
              <a:buNone/>
            </a:pPr>
            <a:r>
              <a:t/>
            </a:r>
            <a:endParaRPr b="0" i="0" sz="1200" u="none" cap="none" strike="noStrike">
              <a:solidFill>
                <a:srgbClr val="5F6368"/>
              </a:solidFill>
              <a:latin typeface="Open Sans"/>
              <a:ea typeface="Open Sans"/>
              <a:cs typeface="Open Sans"/>
              <a:sym typeface="Open Sans"/>
            </a:endParaRPr>
          </a:p>
          <a:p>
            <a:pPr indent="0" lvl="0" marL="0" marR="0" rtl="0" algn="ctr">
              <a:lnSpc>
                <a:spcPct val="115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Email: Josue.mendoza12@outlook.com</a:t>
            </a:r>
            <a:endParaRPr b="1" i="0" sz="1200" u="none" cap="none" strike="noStrike">
              <a:solidFill>
                <a:srgbClr val="1967D2"/>
              </a:solidFill>
              <a:latin typeface="Open Sans"/>
              <a:ea typeface="Open Sans"/>
              <a:cs typeface="Open Sans"/>
              <a:sym typeface="Open Sans"/>
            </a:endParaRPr>
          </a:p>
        </p:txBody>
      </p:sp>
      <p:sp>
        <p:nvSpPr>
          <p:cNvPr id="411" name="Google Shape;411;p25"/>
          <p:cNvSpPr/>
          <p:nvPr/>
        </p:nvSpPr>
        <p:spPr>
          <a:xfrm>
            <a:off x="4230475" y="1602212"/>
            <a:ext cx="513300" cy="513300"/>
          </a:xfrm>
          <a:prstGeom prst="ellipse">
            <a:avLst/>
          </a:pr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5"/>
          <p:cNvSpPr/>
          <p:nvPr/>
        </p:nvSpPr>
        <p:spPr>
          <a:xfrm>
            <a:off x="4361825" y="1734124"/>
            <a:ext cx="250599" cy="249449"/>
          </a:xfrm>
          <a:custGeom>
            <a:rect b="b" l="l" r="r" t="t"/>
            <a:pathLst>
              <a:path extrusionOk="0" h="962" w="964">
                <a:moveTo>
                  <a:pt x="774" y="400"/>
                </a:moveTo>
                <a:lnTo>
                  <a:pt x="562" y="189"/>
                </a:lnTo>
                <a:lnTo>
                  <a:pt x="0" y="749"/>
                </a:lnTo>
                <a:lnTo>
                  <a:pt x="0" y="961"/>
                </a:lnTo>
                <a:lnTo>
                  <a:pt x="212" y="961"/>
                </a:lnTo>
                <a:lnTo>
                  <a:pt x="774" y="400"/>
                </a:lnTo>
                <a:close/>
                <a:moveTo>
                  <a:pt x="940" y="234"/>
                </a:moveTo>
                <a:cubicBezTo>
                  <a:pt x="963" y="211"/>
                  <a:pt x="963" y="177"/>
                  <a:pt x="940" y="155"/>
                </a:cubicBezTo>
                <a:lnTo>
                  <a:pt x="807" y="22"/>
                </a:lnTo>
                <a:cubicBezTo>
                  <a:pt x="785" y="0"/>
                  <a:pt x="751" y="0"/>
                  <a:pt x="728" y="22"/>
                </a:cubicBezTo>
                <a:lnTo>
                  <a:pt x="618" y="132"/>
                </a:lnTo>
                <a:lnTo>
                  <a:pt x="830" y="344"/>
                </a:lnTo>
                <a:lnTo>
                  <a:pt x="940" y="23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416" name="Shape 416"/>
        <p:cNvGrpSpPr/>
        <p:nvPr/>
      </p:nvGrpSpPr>
      <p:grpSpPr>
        <a:xfrm>
          <a:off x="0" y="0"/>
          <a:ext cx="0" cy="0"/>
          <a:chOff x="0" y="0"/>
          <a:chExt cx="0" cy="0"/>
        </a:xfrm>
      </p:grpSpPr>
      <p:sp>
        <p:nvSpPr>
          <p:cNvPr id="417" name="Google Shape;417;p26"/>
          <p:cNvSpPr txBox="1"/>
          <p:nvPr/>
        </p:nvSpPr>
        <p:spPr>
          <a:xfrm>
            <a:off x="2106450" y="2202300"/>
            <a:ext cx="4931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Open Sans"/>
                <a:ea typeface="Open Sans"/>
                <a:cs typeface="Open Sans"/>
                <a:sym typeface="Open Sans"/>
              </a:rPr>
              <a:t>Thank you!</a:t>
            </a:r>
            <a:endParaRPr b="0" i="0" sz="3600" u="none" cap="none" strike="noStrike">
              <a:solidFill>
                <a:srgbClr val="FFFF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